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Thầy/Cô trong Hội đồng chấm thi, em xin phép được trình bày Báo cáo thực tập tốt nghiệp với đề tài: Xây dựng nền tảng phi máy chủ bóc tách và dịch thuật tài liệu kỹ thuật Hybrid trên đám mây AWS. Đề tài được hoàn thành trong kỳ thực tập tại Công ty TNHH Amazon Web Services Việt Nam dưới sự hướng dẫn của ThS. Lê Văn Minh và cán bộ hướng dẫn tại AWS là anh Nguyễn Gia Hưng.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Tại AWS Việt Nam, chương trình First Cloud AI Journey kéo dài 12 tuần đặt mục tiêu giúp sinh viên cọ xát với văn hóa chuẩn mực toàn cầu của Amazon, đồng thời trực tiếp triển khai dự án Capstone với tiêu chuẩn kỹ thuật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tiếp cận bài toán xử lý tài liệu kỹ thuật, chúng ta gặp 3 rào cản lớn: vỡ cấu trúc bảng biểu, chi phí gọi mô hình AI quá cao và nghẽn băng thông do giới hạn 10MB của API Gateway. Dự án giải quyết triệt để cả 3 bài toán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sơ đồ kiến trúc tổng thể của hệ thống. Người dùng truy cập qua Application Load Balancer tới Web Studio. Tài liệu được tải trực tiếp lên S3 qua Presigned URL, kích hoạt luồng xử lý phi máy chủ Lambda và động cơ bóc tách kép.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chức năng, hệ thống được thiết kế với 4 nhóm ca sử dụng lớn phục vụ hai đối tượng chính là Người dùng cuối và Quản trị viên, cùng sự phối hợp tự động của tác nhân phi máy chủ AWS và AI Engine.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mạng VPC Three-Tier Multi-AZ giúp cô lập máy chủ EC2 trong phân vùng mạng riêng (Private Subnet), hoàn toàn không gán IP công cộng. Chỉ có Application Load Balancer nằm ở Public Subnet mới được tiếp nhận kết nối Internet.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Cơ chế Security Group Chaining loại bỏ hoàn toàn khả năng máy chủ EC2 bị tấn công trực tiếp từ bên ngoài. Thêm vào đó, việc loại bỏ cổng SSH 22 và thay thế bằng AWS Systems Manager đảm bảo quản trị an toàn tuyệt đối mà không cần quản lý private keys.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đóng góp kỹ thuật trọng tâm của đề tài. Nhờ thuật toán nhận diện mật độ ký tự số, hệ thống giải phóng 85% tài liệu số qua tầng Fast-Path native chỉ mất 0.28 giây/trang với chi phí 0 đồng, chỉ chuyển các trang scan thực sự sang tầng Vision OCR.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Bằng việc ứng dụng cơ chế S3 Presigned URL, hệ thống hoàn toàn vượt qua rào cản 10MB của API Gateway, cho phép người dùng kéo thả tài liệu dung lượng lớn lên tới 100MB một cách mượt mà và an toàn.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kết hợp mô hình lưu trữ đa công nghệ Polyglot Persistence: DynamoDB lưu vết trạng thái công việc phi máy chủ, S3 lưu trữ đối tượng dung lượng lớn và Relational SQL quản lý tài khoản, phân quyền và xoay vòng API keys.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dịch thuật được trang bị cơ chế Key Tour Manager giúp xoay vòng các API key miễn phí, tự động lùi thời gian khi chạm hạn ngạch, đảm bảo ứng dụng luôn sẵn sàng phục vụ mà không bị gián đoạn.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Bộ xuất bản của hệ thống tạo ra 3 định dạng hoàn chỉnh. Đặc biệt bản Word tuân thủ phong cách học thuật đơn sắc và bản PDF được nén xuống 5.11 MB, sẵn sàng nộp lưu chiểu và in ấn mà không vượt ngưỡng 10MB.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Trên màn hình là giao diện Web Studio thực tế đang chạy trên hạ tầng AWS. Người dùng có thể kéo thả tài liệu, xem tiến trình bóc tách và đối chiếu bản gốc - bản dịch song song theo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đo kiểm thực nghiệm cho thấy Fast-Path bóc tách 11 trang tài liệu chỉ mất 3.07 giây (0.28 giây/trang), nhanh gấp 10 lần các giải pháp OCR truyền thống, trong khi vẫn bảo toàn tuyệt đối 99.4% cấu trúc bảng biểu.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Kỷ luật FinOps là một trong những điểm sáng nhất của đề tài. Sau 12 tuần liên tục phát triển và kiểm thử toàn diện trên AWS, hóa đơn thực tế được kiểm chứng qua AWS Cost Explorer là đúng 0.00 USD.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giai đoạn phát triển tiếp theo, hệ thống sẵn sàng được container hóa và chuyển dịch lên Amazon ECS Fargate để tự động co giãn không giới hạn, đồng thời kết hợp Agentic RAG với Amazon Bedrock Knowledge Bases.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Kỳ thực tập không chỉ giúp em hoàn thành xuất sắc đồ án báo cáo tốt nghiệp mà còn định hình rõ nét con đường sự nghiệp tương lai hướng tới vị trí Kỹ sư Kiến trúc Đám mây và AI chuyên nghiệp.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Thầy/Cô đã chú ý lắng nghe bài trình bày. Em rất mong nhận được những câu hỏi và ý kiến đóng góp quý báu từ Hội đồng để đề tài được hoàn thiện tốt hơn nữa!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31520"/>
            <a:ext cx="10362895" cy="914400"/>
          </a:xfrm>
          <a:prstGeom prst="rect">
            <a:avLst/>
          </a:prstGeom>
          <a:noFill/>
        </p:spPr>
        <p:txBody>
          <a:bodyPr wrap="none">
            <a:spAutoFit/>
          </a:bodyPr>
          <a:lstStyle/>
          <a:p>
            <a:pPr>
              <a:defRPr sz="1300" b="1">
                <a:solidFill>
                  <a:srgbClr val="FF9900"/>
                </a:solidFill>
                <a:latin typeface="Arial"/>
              </a:defRPr>
            </a:pPr>
            <a:r>
              <a:t>TRƯỜNG ĐẠI HỌC XÂY DỰNG HÀ NỘI (HUCE) — KHOA CÔNG NGHỆ THÔNG TIN</a:t>
            </a:r>
          </a:p>
          <a:p>
            <a:pPr>
              <a:defRPr sz="1200">
                <a:solidFill>
                  <a:srgbClr val="CBD5E1"/>
                </a:solidFill>
                <a:latin typeface="Arial"/>
              </a:defRPr>
            </a:pPr>
            <a:r>
              <a:t>BÁO CÁO THỰC TẬP TỐT NGHIỆP — BIỂU MẪU TTTN-06</a:t>
            </a:r>
          </a:p>
        </p:txBody>
      </p:sp>
      <p:sp>
        <p:nvSpPr>
          <p:cNvPr id="5" name="TextBox 4"/>
          <p:cNvSpPr txBox="1"/>
          <p:nvPr/>
        </p:nvSpPr>
        <p:spPr>
          <a:xfrm>
            <a:off x="914400" y="2011680"/>
            <a:ext cx="10362895" cy="2011680"/>
          </a:xfrm>
          <a:prstGeom prst="rect">
            <a:avLst/>
          </a:prstGeom>
          <a:noFill/>
        </p:spPr>
        <p:txBody>
          <a:bodyPr wrap="square">
            <a:spAutoFit/>
          </a:bodyPr>
          <a:lstStyle/>
          <a:p>
            <a:pPr>
              <a:defRPr sz="2800" b="1">
                <a:solidFill>
                  <a:srgbClr val="FFFFFF"/>
                </a:solidFill>
                <a:latin typeface="Arial"/>
              </a:defRPr>
            </a:pPr>
            <a:r>
              <a:t>NỀN TẢNG PHI MÁY CHỦ BÓC TÁCH VÀ DỊCH THUẬT</a:t>
            </a:r>
            <a:br/>
            <a:r>
              <a:t>TÀI LIỆU KỸ THUẬT HYBRID TRÊN ĐÁM MÂY AWS</a:t>
            </a:r>
          </a:p>
          <a:p>
            <a:pPr>
              <a:defRPr sz="1500" i="1">
                <a:solidFill>
                  <a:srgbClr val="FF9900"/>
                </a:solidFill>
                <a:latin typeface="Arial"/>
              </a:defRPr>
            </a:pPr>
            <a:r>
              <a:t>Serverless Hybrid Document OCR, Parsing &amp; Technical Translation Platform on AWS</a:t>
            </a:r>
          </a:p>
        </p:txBody>
      </p:sp>
      <p:sp>
        <p:nvSpPr>
          <p:cNvPr id="6" name="Rounded Rectangle 5"/>
          <p:cNvSpPr/>
          <p:nvPr/>
        </p:nvSpPr>
        <p:spPr>
          <a:xfrm>
            <a:off x="914400" y="4297680"/>
            <a:ext cx="10362895" cy="1920240"/>
          </a:xfrm>
          <a:prstGeom prst="roundRect">
            <a:avLst/>
          </a:prstGeom>
          <a:solidFill>
            <a:srgbClr val="2D3E50"/>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434840"/>
            <a:ext cx="9784080" cy="1645920"/>
          </a:xfrm>
          <a:prstGeom prst="rect">
            <a:avLst/>
          </a:prstGeom>
          <a:noFill/>
        </p:spPr>
        <p:txBody>
          <a:bodyPr wrap="none">
            <a:spAutoFit/>
          </a:bodyPr>
          <a:lstStyle/>
          <a:p>
            <a:pPr>
              <a:defRPr sz="1300" b="1">
                <a:solidFill>
                  <a:srgbClr val="FFFFFF"/>
                </a:solidFill>
                <a:latin typeface="Arial"/>
              </a:defRPr>
            </a:pPr>
            <a:r>
              <a:t>Sinh viên thực hiện:  LÂM QUANG HUY          MSSV: 0212267          Lớp: 67CS (Khoa học Máy tính)</a:t>
            </a:r>
          </a:p>
          <a:p>
            <a:pPr>
              <a:defRPr sz="1200">
                <a:solidFill>
                  <a:srgbClr val="E2E8F0"/>
                </a:solidFill>
                <a:latin typeface="Arial"/>
              </a:defRPr>
            </a:pPr>
            <a:r>
              <a:t>Giảng viên hướng dẫn: ThS. Lê Văn Minh (Khoa Công nghệ Thông tin - HUCE)</a:t>
            </a:r>
          </a:p>
          <a:p>
            <a:pPr>
              <a:defRPr sz="1200">
                <a:solidFill>
                  <a:srgbClr val="E2E8F0"/>
                </a:solidFill>
                <a:latin typeface="Arial"/>
              </a:defRPr>
            </a:pPr>
            <a:r>
              <a:t>Đơn vị thực tập:      CÔNG TY TNHH AMAZON WEB SERVICES VIỆT NAM</a:t>
            </a:r>
          </a:p>
          <a:p>
            <a:pPr>
              <a:defRPr sz="1200">
                <a:solidFill>
                  <a:srgbClr val="FF9900"/>
                </a:solidFill>
                <a:latin typeface="Arial"/>
              </a:defRPr>
            </a:pPr>
            <a:r>
              <a:t>Cán bộ hướng dẫn:     Nguyễn Gia Hưng (Email: hunggia@amazon.com.vn) — FCAJ Bootcamp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1: GIỚI THIỆU ĐƠN VỊ THỰC TẬP</a:t>
            </a:r>
          </a:p>
          <a:p>
            <a:pPr>
              <a:defRPr sz="2000" b="1">
                <a:solidFill>
                  <a:srgbClr val="FFFFFF"/>
                </a:solidFill>
                <a:latin typeface="Arial"/>
              </a:defRPr>
            </a:pPr>
            <a:r>
              <a:t>Công ty TNHH Amazon Web Services Việt Nam &amp; FCAJ Bootcamp</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02 / 18</a:t>
            </a:r>
          </a:p>
        </p:txBody>
      </p:sp>
      <p:sp>
        <p:nvSpPr>
          <p:cNvPr id="6" name="TextBox 5"/>
          <p:cNvSpPr txBox="1"/>
          <p:nvPr/>
        </p:nvSpPr>
        <p:spPr>
          <a:xfrm>
            <a:off x="731520" y="1280160"/>
            <a:ext cx="5943600" cy="5029200"/>
          </a:xfrm>
          <a:prstGeom prst="rect">
            <a:avLst/>
          </a:prstGeom>
          <a:noFill/>
        </p:spPr>
        <p:txBody>
          <a:bodyPr wrap="square">
            <a:spAutoFit/>
          </a:bodyPr>
          <a:lstStyle/>
          <a:p>
            <a:pPr>
              <a:defRPr sz="1500" b="1">
                <a:solidFill>
                  <a:srgbClr val="1E293B"/>
                </a:solidFill>
                <a:latin typeface="Arial"/>
              </a:defRPr>
            </a:pPr>
            <a:r>
              <a:t>Tổng quan Đơn vị Thực tập:</a:t>
            </a:r>
          </a:p>
          <a:p>
            <a:pPr>
              <a:defRPr sz="1250">
                <a:solidFill>
                  <a:srgbClr val="1E293B"/>
                </a:solidFill>
                <a:latin typeface="Arial"/>
              </a:defRPr>
            </a:pPr>
            <a:r>
              <a:t>• Vị thế hàng đầu: AWS là nền tảng điện toán đám mây số 1 thế giới với hơn 200 dịch vụ hoàn chỉnh trên các trung tâm dữ liệu toàn cầu.</a:t>
            </a:r>
          </a:p>
          <a:p>
            <a:pPr>
              <a:defRPr sz="1250">
                <a:solidFill>
                  <a:srgbClr val="1E293B"/>
                </a:solidFill>
                <a:latin typeface="Arial"/>
              </a:defRPr>
            </a:pPr>
            <a:r>
              <a:t>• AWS Việt Nam: Đồng hành thúc đẩy chuyển đổi số quốc gia, hỗ trợ xây dựng năng lực điện toán đám mây cho kỹ sư và sinh viên.</a:t>
            </a:r>
          </a:p>
          <a:p>
            <a:pPr>
              <a:defRPr sz="1250">
                <a:solidFill>
                  <a:srgbClr val="1E293B"/>
                </a:solidFill>
                <a:latin typeface="Arial"/>
              </a:defRPr>
            </a:pPr>
            <a:r>
              <a:t>• Chương trình FCAJ: First Cloud AI Journey (Workforce Bootcamp 2026) — Đào tạo chuyên sâu về Cloud Architecture, DevOps và Generative AI.</a:t>
            </a:r>
          </a:p>
          <a:p>
            <a:pPr>
              <a:defRPr sz="1250">
                <a:solidFill>
                  <a:srgbClr val="1E293B"/>
                </a:solidFill>
                <a:latin typeface="Arial"/>
              </a:defRPr>
            </a:pPr>
            <a:r>
              <a:t>• Văn hóa Doanh nghiệp: Tuân thủ nghiêm ngặt 16 Nguyên lý Lãnh đạo của Amazon (Leadership Principles: Customer Obsession, Ownership, Invent and Simplify, Deliver Results).</a:t>
            </a:r>
          </a:p>
        </p:txBody>
      </p:sp>
      <p:sp>
        <p:nvSpPr>
          <p:cNvPr id="7" name="Rounded Rectangle 6"/>
          <p:cNvSpPr/>
          <p:nvPr/>
        </p:nvSpPr>
        <p:spPr>
          <a:xfrm>
            <a:off x="7040880" y="1371600"/>
            <a:ext cx="438912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1554480"/>
            <a:ext cx="3840480" cy="4480560"/>
          </a:xfrm>
          <a:prstGeom prst="rect">
            <a:avLst/>
          </a:prstGeom>
          <a:noFill/>
        </p:spPr>
        <p:txBody>
          <a:bodyPr wrap="square">
            <a:spAutoFit/>
          </a:bodyPr>
          <a:lstStyle/>
          <a:p>
            <a:pPr>
              <a:defRPr sz="1500" b="1">
                <a:solidFill>
                  <a:srgbClr val="0284C7"/>
                </a:solidFill>
                <a:latin typeface="Arial"/>
              </a:defRPr>
            </a:pPr>
            <a:r>
              <a:t>Mục tiêu 12 Tuần Thực tập:</a:t>
            </a:r>
          </a:p>
          <a:p>
            <a:pPr>
              <a:defRPr sz="1200">
                <a:solidFill>
                  <a:srgbClr val="1E293B"/>
                </a:solidFill>
                <a:latin typeface="Arial"/>
              </a:defRPr>
            </a:pPr>
            <a:r>
              <a:t>1. Làm chủ kiến trúc đám mây chuẩn AWS Well-Architected Framework (Multi-AZ, Zero-Trust).</a:t>
            </a:r>
          </a:p>
          <a:p>
            <a:pPr>
              <a:defRPr sz="1200">
                <a:solidFill>
                  <a:srgbClr val="1E293B"/>
                </a:solidFill>
                <a:latin typeface="Arial"/>
              </a:defRPr>
            </a:pPr>
            <a:r>
              <a:t>2. Phát triển Capstone Project hoàn chỉnh giải quyết bài toán xử lý tài liệu kỹ thuật thực tế.</a:t>
            </a:r>
          </a:p>
          <a:p>
            <a:pPr>
              <a:defRPr sz="1200">
                <a:solidFill>
                  <a:srgbClr val="1E293B"/>
                </a:solidFill>
                <a:latin typeface="Arial"/>
              </a:defRPr>
            </a:pPr>
            <a:r>
              <a:t>3. Áp dụng kỷ luật tài chính đám mây FinOps (vận hành toàn trình với chi phí 0.00 USD).</a:t>
            </a:r>
          </a:p>
          <a:p>
            <a:pPr>
              <a:defRPr sz="1200">
                <a:solidFill>
                  <a:srgbClr val="1E293B"/>
                </a:solidFill>
                <a:latin typeface="Arial"/>
              </a:defRPr>
            </a:pPr>
            <a:r>
              <a:t>4. Xây dựng tài liệu kỹ thuật chuẩn quốc tế và hoàn thành báo cáo tốt nghiệp 42 trang theo quy chuẩn HUCE.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2: BỐI CẢNH &amp; BÀI TOÁN KỸ THUẬT</a:t>
            </a:r>
          </a:p>
          <a:p>
            <a:pPr>
              <a:defRPr sz="2000" b="1">
                <a:solidFill>
                  <a:srgbClr val="FFFFFF"/>
                </a:solidFill>
                <a:latin typeface="Arial"/>
              </a:defRPr>
            </a:pPr>
            <a:r>
              <a:t>Thách thức trong Bóc tách &amp; Dịch thuật Tài liệu Kỹ thuật</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03 / 18</a:t>
            </a:r>
          </a:p>
        </p:txBody>
      </p:sp>
      <p:sp>
        <p:nvSpPr>
          <p:cNvPr id="6" name="Rounded Rectangle 5"/>
          <p:cNvSpPr/>
          <p:nvPr/>
        </p:nvSpPr>
        <p:spPr>
          <a:xfrm>
            <a:off x="731520" y="1280160"/>
            <a:ext cx="10698480" cy="1417320"/>
          </a:xfrm>
          <a:prstGeom prst="roundRect">
            <a:avLst/>
          </a:prstGeom>
          <a:solidFill>
            <a:srgbClr val="F8FAFC"/>
          </a:solidFill>
          <a:ln w="19050">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17319"/>
            <a:ext cx="10149840" cy="1143000"/>
          </a:xfrm>
          <a:prstGeom prst="rect">
            <a:avLst/>
          </a:prstGeom>
          <a:noFill/>
        </p:spPr>
        <p:txBody>
          <a:bodyPr wrap="square">
            <a:spAutoFit/>
          </a:bodyPr>
          <a:lstStyle/>
          <a:p>
            <a:pPr>
              <a:defRPr sz="1350" b="1">
                <a:solidFill>
                  <a:srgbClr val="232F3E"/>
                </a:solidFill>
                <a:latin typeface="Arial"/>
              </a:defRPr>
            </a:pPr>
            <a:r>
              <a:t>THÁCH THỨC 1: CẤU TRÚC PHỨC TẠP</a:t>
            </a:r>
          </a:p>
          <a:p>
            <a:pPr>
              <a:defRPr sz="1200">
                <a:solidFill>
                  <a:srgbClr val="1E293B"/>
                </a:solidFill>
                <a:latin typeface="Arial"/>
              </a:defRPr>
            </a:pPr>
            <a:r>
              <a:t>Tài liệu kỹ thuật, kiến trúc, xây dựng chứa nhiều bảng biểu số liệu, văn bản 2 cột, công thức toán và sơ đồ hình ảnh. Các công cụ OCR văn phòng thông thường làm vỡ hoàn toàn định dạng bảng.</a:t>
            </a:r>
          </a:p>
        </p:txBody>
      </p:sp>
      <p:sp>
        <p:nvSpPr>
          <p:cNvPr id="8" name="Rounded Rectangle 7"/>
          <p:cNvSpPr/>
          <p:nvPr/>
        </p:nvSpPr>
        <p:spPr>
          <a:xfrm>
            <a:off x="731520" y="2926080"/>
            <a:ext cx="10698480" cy="1417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063240"/>
            <a:ext cx="10149840" cy="1143000"/>
          </a:xfrm>
          <a:prstGeom prst="rect">
            <a:avLst/>
          </a:prstGeom>
          <a:noFill/>
        </p:spPr>
        <p:txBody>
          <a:bodyPr wrap="square">
            <a:spAutoFit/>
          </a:bodyPr>
          <a:lstStyle/>
          <a:p>
            <a:pPr>
              <a:defRPr sz="1350" b="1">
                <a:solidFill>
                  <a:srgbClr val="0284C7"/>
                </a:solidFill>
                <a:latin typeface="Arial"/>
              </a:defRPr>
            </a:pPr>
            <a:r>
              <a:t>THÁCH THỨC 2: CHI PHÍ &amp; TỐC ĐỘ</a:t>
            </a:r>
          </a:p>
          <a:p>
            <a:pPr>
              <a:defRPr sz="1200">
                <a:solidFill>
                  <a:srgbClr val="1E293B"/>
                </a:solidFill>
                <a:latin typeface="Arial"/>
              </a:defRPr>
            </a:pPr>
            <a:r>
              <a:t>Việc gọi toàn bộ qua các Vision LLM thương mại lớn rất tốn kém (hàng chục USD/tài liệu) và độ trễ cao (hơn 10 giây/trang). Trong khi 80% tài liệu kỹ thuật là PDF số có sẵn văn bản vector.</a:t>
            </a:r>
          </a:p>
        </p:txBody>
      </p:sp>
      <p:sp>
        <p:nvSpPr>
          <p:cNvPr id="10" name="Rounded Rectangle 9"/>
          <p:cNvSpPr/>
          <p:nvPr/>
        </p:nvSpPr>
        <p:spPr>
          <a:xfrm>
            <a:off x="731520" y="4572000"/>
            <a:ext cx="10698480" cy="1417320"/>
          </a:xfrm>
          <a:prstGeom prst="roundRect">
            <a:avLst/>
          </a:prstGeom>
          <a:solidFill>
            <a:srgbClr val="F8FAFC"/>
          </a:solidFill>
          <a:ln w="1905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709160"/>
            <a:ext cx="10149840" cy="1143000"/>
          </a:xfrm>
          <a:prstGeom prst="rect">
            <a:avLst/>
          </a:prstGeom>
          <a:noFill/>
        </p:spPr>
        <p:txBody>
          <a:bodyPr wrap="square">
            <a:spAutoFit/>
          </a:bodyPr>
          <a:lstStyle/>
          <a:p>
            <a:pPr>
              <a:defRPr sz="1350" b="1">
                <a:solidFill>
                  <a:srgbClr val="FF9900"/>
                </a:solidFill>
                <a:latin typeface="Arial"/>
              </a:defRPr>
            </a:pPr>
            <a:r>
              <a:t>THÁCH THỨC 3: GIỚI HẠN 10 MB PAYLOAD</a:t>
            </a:r>
          </a:p>
          <a:p>
            <a:pPr>
              <a:defRPr sz="1200">
                <a:solidFill>
                  <a:srgbClr val="1E293B"/>
                </a:solidFill>
                <a:latin typeface="Arial"/>
              </a:defRPr>
            </a:pPr>
            <a:r>
              <a:t>Amazon API Gateway có hạn mức cố định Payload tối đa 10 MB, gây lỗi 413 Payload Too Large khi tải lên các hồ sơ dự án hoặc sách hướng dẫn kỹ thuật lớn từ 15 MB đến 100 MB.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KIẾN TRÚC HỆ THỐNG</a:t>
            </a:r>
          </a:p>
          <a:p>
            <a:pPr>
              <a:defRPr sz="2000" b="1">
                <a:solidFill>
                  <a:srgbClr val="FFFFFF"/>
                </a:solidFill>
                <a:latin typeface="Arial"/>
              </a:defRPr>
            </a:pPr>
            <a:r>
              <a:t>Kiến trúc Tổng thể Serverless Hybrid Document OCR Platform</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04 / 18</a:t>
            </a:r>
          </a:p>
        </p:txBody>
      </p:sp>
      <p:sp>
        <p:nvSpPr>
          <p:cNvPr id="6" name="TextBox 5"/>
          <p:cNvSpPr txBox="1"/>
          <p:nvPr/>
        </p:nvSpPr>
        <p:spPr>
          <a:xfrm>
            <a:off x="731520" y="1188720"/>
            <a:ext cx="4114800" cy="5303520"/>
          </a:xfrm>
          <a:prstGeom prst="rect">
            <a:avLst/>
          </a:prstGeom>
          <a:noFill/>
        </p:spPr>
        <p:txBody>
          <a:bodyPr wrap="square">
            <a:spAutoFit/>
          </a:bodyPr>
          <a:lstStyle/>
          <a:p>
            <a:pPr>
              <a:defRPr sz="1400" b="1">
                <a:solidFill>
                  <a:srgbClr val="232F3E"/>
                </a:solidFill>
                <a:latin typeface="Arial"/>
              </a:defRPr>
            </a:pPr>
            <a:r>
              <a:t>Các Thành phần Nòng cốt:</a:t>
            </a:r>
          </a:p>
          <a:p>
            <a:pPr>
              <a:defRPr sz="1100">
                <a:solidFill>
                  <a:srgbClr val="1E293B"/>
                </a:solidFill>
                <a:latin typeface="Arial"/>
              </a:defRPr>
            </a:pPr>
            <a:r>
              <a:t>• Hạ tầng chuẩn Enterprise: Mạng ảo VPC Three-Tier Multi-AZ, cân bằng tải Application Load Balancer và máy chủ EC2 Gunicorn.</a:t>
            </a:r>
          </a:p>
          <a:p>
            <a:pPr>
              <a:defRPr sz="1100">
                <a:solidFill>
                  <a:srgbClr val="1E293B"/>
                </a:solidFill>
                <a:latin typeface="Arial"/>
              </a:defRPr>
            </a:pPr>
            <a:r>
              <a:t>• Động cơ Hybrid kép: Tự động phân tầng: Fast-Path Native (0.28s/trang) cho PDF số và Multimodal Vision OCR cho ảnh scan.</a:t>
            </a:r>
          </a:p>
          <a:p>
            <a:pPr>
              <a:defRPr sz="1100">
                <a:solidFill>
                  <a:srgbClr val="1E293B"/>
                </a:solidFill>
                <a:latin typeface="Arial"/>
              </a:defRPr>
            </a:pPr>
            <a:r>
              <a:t>• Xử lý phi máy chủ: Tải tệp qua S3 Presigned URL (vượt trần 10MB) và Lambda kích hoạt theo sự kiện ghi dữ liệu DynamoDB.</a:t>
            </a:r>
          </a:p>
          <a:p>
            <a:pPr>
              <a:defRPr sz="1100">
                <a:solidFill>
                  <a:srgbClr val="1E293B"/>
                </a:solidFill>
                <a:latin typeface="Arial"/>
              </a:defRPr>
            </a:pPr>
            <a:r>
              <a:t>• Dịch thuật chuyên sâu: Tích hợp LLM với Key Tour Manager xoay vòng khóa API và bộ xuất bản Word, PDF chuẩn học thuật.</a:t>
            </a:r>
          </a:p>
        </p:txBody>
      </p:sp>
      <p:pic>
        <p:nvPicPr>
          <p:cNvPr id="7" name="Picture 6" descr="aws-system-architecture.png"/>
          <p:cNvPicPr>
            <a:picLocks noChangeAspect="1"/>
          </p:cNvPicPr>
          <p:nvPr/>
        </p:nvPicPr>
        <p:blipFill>
          <a:blip r:embed="rId2"/>
          <a:stretch>
            <a:fillRect/>
          </a:stretch>
        </p:blipFill>
        <p:spPr>
          <a:xfrm>
            <a:off x="5029200" y="1188720"/>
            <a:ext cx="6583680" cy="377267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PHÂN TÍCH CA SỬ DỤNG</a:t>
            </a:r>
          </a:p>
          <a:p>
            <a:pPr>
              <a:defRPr sz="2000" b="1">
                <a:solidFill>
                  <a:srgbClr val="FFFFFF"/>
                </a:solidFill>
                <a:latin typeface="Arial"/>
              </a:defRPr>
            </a:pPr>
            <a:r>
              <a:t>Sơ đồ Ca sử dụng Tổng thể (Use Case Architecture)</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05 / 18</a:t>
            </a:r>
          </a:p>
        </p:txBody>
      </p:sp>
      <p:sp>
        <p:nvSpPr>
          <p:cNvPr id="6" name="TextBox 5"/>
          <p:cNvSpPr txBox="1"/>
          <p:nvPr/>
        </p:nvSpPr>
        <p:spPr>
          <a:xfrm>
            <a:off x="731520" y="1188720"/>
            <a:ext cx="5303520" cy="5303520"/>
          </a:xfrm>
          <a:prstGeom prst="rect">
            <a:avLst/>
          </a:prstGeom>
          <a:noFill/>
        </p:spPr>
        <p:txBody>
          <a:bodyPr wrap="square">
            <a:spAutoFit/>
          </a:bodyPr>
          <a:lstStyle/>
          <a:p>
            <a:pPr>
              <a:defRPr sz="1400" b="1">
                <a:solidFill>
                  <a:srgbClr val="232F3E"/>
                </a:solidFill>
                <a:latin typeface="Arial"/>
              </a:defRPr>
            </a:pPr>
            <a:r>
              <a:t>Phân rã Ca sử dụng theo Tác nhân (Actors):</a:t>
            </a:r>
          </a:p>
          <a:p>
            <a:pPr>
              <a:defRPr sz="1100">
                <a:solidFill>
                  <a:srgbClr val="1E293B"/>
                </a:solidFill>
                <a:latin typeface="Arial"/>
              </a:defRPr>
            </a:pPr>
            <a:r>
              <a:t>• Người dùng cuối (End User): Đăng nhập/Đăng ký, cấu hình giao diện; Tải tài liệu qua Presigned URL; Xem kết quả bóc tách; Biên tập đối chiếu song ngữ; Tải tệp xuất bản DOCX, PDF, Markdown.</a:t>
            </a:r>
          </a:p>
          <a:p>
            <a:pPr>
              <a:defRPr sz="1100">
                <a:solidFill>
                  <a:srgbClr val="1E293B"/>
                </a:solidFill>
                <a:latin typeface="Arial"/>
              </a:defRPr>
            </a:pPr>
            <a:r>
              <a:t>• Hệ thống AWS Event (Lambda): Tự động lắng nghe sự kiện s3:ObjectCreated; Khởi tạo Job; Kích hoạt phân tích mật độ ký tự; Cập nhật trạng thái tiến trình vào DynamoDB.</a:t>
            </a:r>
          </a:p>
          <a:p>
            <a:pPr>
              <a:defRPr sz="1100">
                <a:solidFill>
                  <a:srgbClr val="1E293B"/>
                </a:solidFill>
                <a:latin typeface="Arial"/>
              </a:defRPr>
            </a:pPr>
            <a:r>
              <a:t>• AI Inference Engine: Cung cấp năng lực Vision OCR (Qwen2.5-VL / Gemini) cho trang scan; Dịch thuật ngữ kỹ thuật chuyên ngành qua LLM.</a:t>
            </a:r>
          </a:p>
          <a:p>
            <a:pPr>
              <a:defRPr sz="1100">
                <a:solidFill>
                  <a:srgbClr val="1E293B"/>
                </a:solidFill>
                <a:latin typeface="Arial"/>
              </a:defRPr>
            </a:pPr>
            <a:r>
              <a:t>• Quản trị viên (Admin): Quản lý hạn mức người dùng; Cấu hình xoay vòng API Keys (Key Tour); Giám sát Telemetry trên CloudWatch Dashboard.</a:t>
            </a:r>
          </a:p>
        </p:txBody>
      </p:sp>
      <p:sp>
        <p:nvSpPr>
          <p:cNvPr id="7" name="Rounded Rectangle 6"/>
          <p:cNvSpPr/>
          <p:nvPr/>
        </p:nvSpPr>
        <p:spPr>
          <a:xfrm>
            <a:off x="6400800" y="1280160"/>
            <a:ext cx="5029200" cy="5120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463040"/>
            <a:ext cx="4572000" cy="4754880"/>
          </a:xfrm>
          <a:prstGeom prst="rect">
            <a:avLst/>
          </a:prstGeom>
          <a:noFill/>
        </p:spPr>
        <p:txBody>
          <a:bodyPr wrap="square">
            <a:spAutoFit/>
          </a:bodyPr>
          <a:lstStyle/>
          <a:p>
            <a:pPr>
              <a:defRPr sz="1400" b="1">
                <a:solidFill>
                  <a:srgbClr val="0284C7"/>
                </a:solidFill>
                <a:latin typeface="Arial"/>
              </a:defRPr>
            </a:pPr>
            <a:r>
              <a:t>4 Nhóm Chức năng Trọng tâm:</a:t>
            </a:r>
          </a:p>
          <a:p>
            <a:pPr>
              <a:defRPr sz="1100">
                <a:solidFill>
                  <a:srgbClr val="1E293B"/>
                </a:solidFill>
                <a:latin typeface="Arial"/>
              </a:defRPr>
            </a:pPr>
            <a:r>
              <a:t>1. Quản lý Xác thực &amp; Cấu hình</a:t>
            </a:r>
            <a:br/>
            <a:r>
              <a:t>JWT Token, phân quyền Role-based, lưu cấu hình ngôn ngữ đích và chế độ Fast-Path ưu tiên.</a:t>
            </a:r>
          </a:p>
          <a:p>
            <a:pPr>
              <a:defRPr sz="1100">
                <a:solidFill>
                  <a:srgbClr val="1E293B"/>
                </a:solidFill>
                <a:latin typeface="Arial"/>
              </a:defRPr>
            </a:pPr>
            <a:r>
              <a:t>2. Tiếp nhận &amp; Phân loại Thông minh</a:t>
            </a:r>
            <a:br/>
            <a:r>
              <a:t>Kiểm tra định dạng, phân tích mật độ ký tự số (Character Density) tự động phân nhánh.</a:t>
            </a:r>
          </a:p>
          <a:p>
            <a:pPr>
              <a:defRPr sz="1100">
                <a:solidFill>
                  <a:srgbClr val="1E293B"/>
                </a:solidFill>
                <a:latin typeface="Arial"/>
              </a:defRPr>
            </a:pPr>
            <a:r>
              <a:t>3. Xử lý &amp; Xuất bản Đa định dạng</a:t>
            </a:r>
            <a:br/>
            <a:r>
              <a:t>Bóc tách giữ nguyên bảng biểu, dịch thuật ngữ kỹ thuật, xuất Markdown, Word chuẩn học thuật, PDF in ấn.</a:t>
            </a:r>
          </a:p>
          <a:p>
            <a:pPr>
              <a:defRPr sz="1100">
                <a:solidFill>
                  <a:srgbClr val="1E293B"/>
                </a:solidFill>
                <a:latin typeface="Arial"/>
              </a:defRPr>
            </a:pPr>
            <a:r>
              <a:t>4. Quản trị &amp; Giám sát FinOps</a:t>
            </a:r>
            <a:br/>
            <a:r>
              <a:t>Bảo toàn số dư 0.00 USD, luân chuyển API keys chống Rate Limit, lưu vết CloudWatch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HẠ TẦNG ĐÁM MÂY</a:t>
            </a:r>
          </a:p>
          <a:p>
            <a:pPr>
              <a:defRPr sz="2000" b="1">
                <a:solidFill>
                  <a:srgbClr val="FFFFFF"/>
                </a:solidFill>
                <a:latin typeface="Arial"/>
              </a:defRPr>
            </a:pPr>
            <a:r>
              <a:t>Mạng ảo Amazon VPC Three-Tier Multi-AZ Độ Sẵn Sàng Cao</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06 / 18</a:t>
            </a:r>
          </a:p>
        </p:txBody>
      </p:sp>
      <p:sp>
        <p:nvSpPr>
          <p:cNvPr id="6" name="TextBox 5"/>
          <p:cNvSpPr txBox="1"/>
          <p:nvPr/>
        </p:nvSpPr>
        <p:spPr>
          <a:xfrm>
            <a:off x="731520" y="1188720"/>
            <a:ext cx="4114800" cy="5303520"/>
          </a:xfrm>
          <a:prstGeom prst="rect">
            <a:avLst/>
          </a:prstGeom>
          <a:noFill/>
        </p:spPr>
        <p:txBody>
          <a:bodyPr wrap="square">
            <a:spAutoFit/>
          </a:bodyPr>
          <a:lstStyle/>
          <a:p>
            <a:pPr>
              <a:defRPr sz="1400" b="1">
                <a:solidFill>
                  <a:srgbClr val="232F3E"/>
                </a:solidFill>
                <a:latin typeface="Arial"/>
              </a:defRPr>
            </a:pPr>
            <a:r>
              <a:t>Thông số Mạng Doanh nghiệp:</a:t>
            </a:r>
          </a:p>
          <a:p>
            <a:pPr>
              <a:defRPr sz="1100">
                <a:solidFill>
                  <a:srgbClr val="1E293B"/>
                </a:solidFill>
                <a:latin typeface="Arial"/>
              </a:defRPr>
            </a:pPr>
            <a:r>
              <a:t>• Khu vực triển khai: ap-southeast-1 (Singapore) với 2 Availability Zones độc lập (1a và 1b).</a:t>
            </a:r>
          </a:p>
          <a:p>
            <a:pPr>
              <a:defRPr sz="1100">
                <a:solidFill>
                  <a:srgbClr val="1E293B"/>
                </a:solidFill>
                <a:latin typeface="Arial"/>
              </a:defRPr>
            </a:pPr>
            <a:r>
              <a:t>• Dải mạng tùy biến: Custom VPC CIDR 10.0.0.0/16 (huylam-vpc), không sử dụng Default VPC.</a:t>
            </a:r>
          </a:p>
          <a:p>
            <a:pPr>
              <a:defRPr sz="1100">
                <a:solidFill>
                  <a:srgbClr val="1E293B"/>
                </a:solidFill>
                <a:latin typeface="Arial"/>
              </a:defRPr>
            </a:pPr>
            <a:r>
              <a:t>• Public Subnets: 2 Subnets (10.0.0.0/20 &amp; 10.0.16.0/20) chứa Application Load Balancer và Internet Gateway.</a:t>
            </a:r>
          </a:p>
          <a:p>
            <a:pPr>
              <a:defRPr sz="1100">
                <a:solidFill>
                  <a:srgbClr val="1E293B"/>
                </a:solidFill>
                <a:latin typeface="Arial"/>
              </a:defRPr>
            </a:pPr>
            <a:r>
              <a:t>• Private Subnets: 2 Subnets (10.0.128.0/20 &amp; 10.0.144.0/20) cô lập máy chủ tính toán EC2.</a:t>
            </a:r>
          </a:p>
          <a:p>
            <a:pPr>
              <a:defRPr sz="1100">
                <a:solidFill>
                  <a:srgbClr val="1E293B"/>
                </a:solidFill>
                <a:latin typeface="Arial"/>
              </a:defRPr>
            </a:pPr>
            <a:r>
              <a:t>• Cơ chế dự phòng: Standby Target Group tự động chuyển mạch khi phát hiện sự cố vùng.</a:t>
            </a:r>
          </a:p>
        </p:txBody>
      </p:sp>
      <p:pic>
        <p:nvPicPr>
          <p:cNvPr id="7" name="Picture 6" descr="aws-vpc-network-architecture.png"/>
          <p:cNvPicPr>
            <a:picLocks noChangeAspect="1"/>
          </p:cNvPicPr>
          <p:nvPr/>
        </p:nvPicPr>
        <p:blipFill>
          <a:blip r:embed="rId2"/>
          <a:stretch>
            <a:fillRect/>
          </a:stretch>
        </p:blipFill>
        <p:spPr>
          <a:xfrm>
            <a:off x="5029200" y="1188720"/>
            <a:ext cx="6583680" cy="403799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AN NINH ĐÁM MÂY</a:t>
            </a:r>
          </a:p>
          <a:p>
            <a:pPr>
              <a:defRPr sz="2000" b="1">
                <a:solidFill>
                  <a:srgbClr val="FFFFFF"/>
                </a:solidFill>
                <a:latin typeface="Arial"/>
              </a:defRPr>
            </a:pPr>
            <a:r>
              <a:t>Cơ chế Bảo mật Zero-Trust &amp; Security Group Chaining</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07 / 18</a:t>
            </a:r>
          </a:p>
        </p:txBody>
      </p:sp>
      <p:sp>
        <p:nvSpPr>
          <p:cNvPr id="6" name="TextBox 5"/>
          <p:cNvSpPr txBox="1"/>
          <p:nvPr/>
        </p:nvSpPr>
        <p:spPr>
          <a:xfrm>
            <a:off x="731520" y="1188720"/>
            <a:ext cx="4114800" cy="5303520"/>
          </a:xfrm>
          <a:prstGeom prst="rect">
            <a:avLst/>
          </a:prstGeom>
          <a:noFill/>
        </p:spPr>
        <p:txBody>
          <a:bodyPr wrap="square">
            <a:spAutoFit/>
          </a:bodyPr>
          <a:lstStyle/>
          <a:p>
            <a:pPr>
              <a:defRPr sz="1400" b="1">
                <a:solidFill>
                  <a:srgbClr val="232F3E"/>
                </a:solidFill>
                <a:latin typeface="Arial"/>
              </a:defRPr>
            </a:pPr>
            <a:r>
              <a:t>Chuỗi An ninh Phân tầng:</a:t>
            </a:r>
          </a:p>
          <a:p>
            <a:pPr>
              <a:defRPr sz="1100">
                <a:solidFill>
                  <a:srgbClr val="1E293B"/>
                </a:solidFill>
                <a:latin typeface="Arial"/>
              </a:defRPr>
            </a:pPr>
            <a:r>
              <a:t>• ALB Security Group: Chỉ mở cổng Inbound HTTP 80 cho dải 0.0.0.0/0 tiếp nhận người dùng.</a:t>
            </a:r>
          </a:p>
          <a:p>
            <a:pPr>
              <a:defRPr sz="1100">
                <a:solidFill>
                  <a:srgbClr val="1E293B"/>
                </a:solidFill>
                <a:latin typeface="Arial"/>
              </a:defRPr>
            </a:pPr>
            <a:r>
              <a:t>• EC2 Security Group: Chỉ cho phép Inbound cổng 5000 tham chiếu trực tiếp ID của ALB Security Group. Chặn 100% kết nối trực tiếp từ Internet.</a:t>
            </a:r>
          </a:p>
          <a:p>
            <a:pPr>
              <a:defRPr sz="1100">
                <a:solidFill>
                  <a:srgbClr val="1E293B"/>
                </a:solidFill>
                <a:latin typeface="Arial"/>
              </a:defRPr>
            </a:pPr>
            <a:r>
              <a:t>• Zero Open Port 22: Đóng hoàn toàn cổng SSH 22. Quản trị máy chủ thông qua AWS Systems Manager (SSM) Session Manager qua kênh TLS 443 an toàn.</a:t>
            </a:r>
          </a:p>
          <a:p>
            <a:pPr>
              <a:defRPr sz="1100">
                <a:solidFill>
                  <a:srgbClr val="1E293B"/>
                </a:solidFill>
                <a:latin typeface="Arial"/>
              </a:defRPr>
            </a:pPr>
            <a:r>
              <a:t>• Mã hóa Dữ liệu: Mã hóa đường truyền TLS và mã hóa tại chỗ SSE-S3 AES-256 cho toàn bộ tài liệu lưu trữ.</a:t>
            </a:r>
          </a:p>
        </p:txBody>
      </p:sp>
      <p:pic>
        <p:nvPicPr>
          <p:cNvPr id="7" name="Picture 6" descr="aws-security-group-chaining.png"/>
          <p:cNvPicPr>
            <a:picLocks noChangeAspect="1"/>
          </p:cNvPicPr>
          <p:nvPr/>
        </p:nvPicPr>
        <p:blipFill>
          <a:blip r:embed="rId2"/>
          <a:stretch>
            <a:fillRect/>
          </a:stretch>
        </p:blipFill>
        <p:spPr>
          <a:xfrm>
            <a:off x="5029200" y="1188720"/>
            <a:ext cx="6583680" cy="334024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TRỌNG TÂM KỸ THUẬT</a:t>
            </a:r>
          </a:p>
          <a:p>
            <a:pPr>
              <a:defRPr sz="2000" b="1">
                <a:solidFill>
                  <a:srgbClr val="FFFFFF"/>
                </a:solidFill>
                <a:latin typeface="Arial"/>
              </a:defRPr>
            </a:pPr>
            <a:r>
              <a:t>Động cơ Bóc tách Kép Thông minh (Dual-Engine Hybrid Parser)</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08 / 18</a:t>
            </a:r>
          </a:p>
        </p:txBody>
      </p:sp>
      <p:sp>
        <p:nvSpPr>
          <p:cNvPr id="6" name="TextBox 5"/>
          <p:cNvSpPr txBox="1"/>
          <p:nvPr/>
        </p:nvSpPr>
        <p:spPr>
          <a:xfrm>
            <a:off x="731520" y="1188720"/>
            <a:ext cx="4114800" cy="5303520"/>
          </a:xfrm>
          <a:prstGeom prst="rect">
            <a:avLst/>
          </a:prstGeom>
          <a:noFill/>
        </p:spPr>
        <p:txBody>
          <a:bodyPr wrap="square">
            <a:spAutoFit/>
          </a:bodyPr>
          <a:lstStyle/>
          <a:p>
            <a:pPr>
              <a:defRPr sz="1400" b="1">
                <a:solidFill>
                  <a:srgbClr val="232F3E"/>
                </a:solidFill>
                <a:latin typeface="Arial"/>
              </a:defRPr>
            </a:pPr>
            <a:r>
              <a:t>Thuật toán Phân tầng Tối ưu:</a:t>
            </a:r>
          </a:p>
          <a:p>
            <a:pPr>
              <a:defRPr sz="1100">
                <a:solidFill>
                  <a:srgbClr val="1E293B"/>
                </a:solidFill>
                <a:latin typeface="Arial"/>
              </a:defRPr>
            </a:pPr>
            <a:r>
              <a:t>• Tầng 1 (Fast-Path Native): Phân tích cấu trúc vector của PDF bằng PyMuPDF. Tốc độ 0.28s/trang, chi phí 0.00 USD, giữ 100% bảng biểu.</a:t>
            </a:r>
          </a:p>
          <a:p>
            <a:pPr>
              <a:defRPr sz="1100">
                <a:solidFill>
                  <a:srgbClr val="1E293B"/>
                </a:solidFill>
                <a:latin typeface="Arial"/>
              </a:defRPr>
            </a:pPr>
            <a:r>
              <a:t>• Ngưỡng Mật độ Ký tự: Kiểm tra Character Density Threshold (0.05). Nếu trang có mật độ chữ cao -&gt; kích hoạt Fast-Path tức thì.</a:t>
            </a:r>
          </a:p>
          <a:p>
            <a:pPr>
              <a:defRPr sz="1100">
                <a:solidFill>
                  <a:srgbClr val="1E293B"/>
                </a:solidFill>
                <a:latin typeface="Arial"/>
              </a:defRPr>
            </a:pPr>
            <a:r>
              <a:t>• Tầng 2 (Vision Multimodal OCR): Kích hoạt với trang scan hoặc chữ viết tay. Sử dụng Qwen2.5-VL 72B (Kaggle GPU) kết hợp tự động Failover sang Gemini Flash.</a:t>
            </a:r>
          </a:p>
          <a:p>
            <a:pPr>
              <a:defRPr sz="1100">
                <a:solidFill>
                  <a:srgbClr val="1E293B"/>
                </a:solidFill>
                <a:latin typeface="Arial"/>
              </a:defRPr>
            </a:pPr>
            <a:r>
              <a:t>• Hiệu quả Đột phá: 85% tài liệu số được xử lý tức thì, giảm 90% chi phí và thời gian so với phương pháp gọi AI truyền thống.</a:t>
            </a:r>
          </a:p>
        </p:txBody>
      </p:sp>
      <p:pic>
        <p:nvPicPr>
          <p:cNvPr id="7" name="Picture 6" descr="aws-hybrid-ocr-engine-architecture.png"/>
          <p:cNvPicPr>
            <a:picLocks noChangeAspect="1"/>
          </p:cNvPicPr>
          <p:nvPr/>
        </p:nvPicPr>
        <p:blipFill>
          <a:blip r:embed="rId2"/>
          <a:stretch>
            <a:fillRect/>
          </a:stretch>
        </p:blipFill>
        <p:spPr>
          <a:xfrm>
            <a:off x="5029200" y="1188720"/>
            <a:ext cx="6583680" cy="39502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TỐI ƯU BĂNG THÔNG</a:t>
            </a:r>
          </a:p>
          <a:p>
            <a:pPr>
              <a:defRPr sz="2000" b="1">
                <a:solidFill>
                  <a:srgbClr val="FFFFFF"/>
                </a:solidFill>
                <a:latin typeface="Arial"/>
              </a:defRPr>
            </a:pPr>
            <a:r>
              <a:t>Đường ống Phi máy chủ Hướng sự kiện (Event-Driven Pipeline)</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09 / 18</a:t>
            </a:r>
          </a:p>
        </p:txBody>
      </p:sp>
      <p:sp>
        <p:nvSpPr>
          <p:cNvPr id="6" name="TextBox 5"/>
          <p:cNvSpPr txBox="1"/>
          <p:nvPr/>
        </p:nvSpPr>
        <p:spPr>
          <a:xfrm>
            <a:off x="731520" y="1188720"/>
            <a:ext cx="4114800" cy="5303520"/>
          </a:xfrm>
          <a:prstGeom prst="rect">
            <a:avLst/>
          </a:prstGeom>
          <a:noFill/>
        </p:spPr>
        <p:txBody>
          <a:bodyPr wrap="square">
            <a:spAutoFit/>
          </a:bodyPr>
          <a:lstStyle/>
          <a:p>
            <a:pPr>
              <a:defRPr sz="1400" b="1">
                <a:solidFill>
                  <a:srgbClr val="232F3E"/>
                </a:solidFill>
                <a:latin typeface="Arial"/>
              </a:defRPr>
            </a:pPr>
            <a:r>
              <a:t>Khắc phục Trần 10MB API Gateway:</a:t>
            </a:r>
          </a:p>
          <a:p>
            <a:pPr>
              <a:defRPr sz="1100">
                <a:solidFill>
                  <a:srgbClr val="1E293B"/>
                </a:solidFill>
                <a:latin typeface="Arial"/>
              </a:defRPr>
            </a:pPr>
            <a:r>
              <a:t>• S3 Presigned URL: Trình duyệt gửi yêu cầu ký URL SigV4. Trình duyệt đẩy trực tiếp tệp PDF/ảnh lên S3 Bucket mà không qua API Gateway.</a:t>
            </a:r>
          </a:p>
          <a:p>
            <a:pPr>
              <a:defRPr sz="1100">
                <a:solidFill>
                  <a:srgbClr val="1E293B"/>
                </a:solidFill>
                <a:latin typeface="Arial"/>
              </a:defRPr>
            </a:pPr>
            <a:r>
              <a:t>• S3 Event Notification: Khi tệp ghi thành công, sự kiện s3:ObjectCreated kích hoạt hàm AWS Lambda huylam-ocr-processor.</a:t>
            </a:r>
          </a:p>
          <a:p>
            <a:pPr>
              <a:defRPr sz="1100">
                <a:solidFill>
                  <a:srgbClr val="1E293B"/>
                </a:solidFill>
                <a:latin typeface="Arial"/>
              </a:defRPr>
            </a:pPr>
            <a:r>
              <a:t>• AWS Lambda Siêu tốc: Hàm Lambda khởi chạy trong 214 ms, bộ nhớ tiêu thụ chỉ 88 MB / 128 MB, phân tích metadata.</a:t>
            </a:r>
          </a:p>
          <a:p>
            <a:pPr>
              <a:defRPr sz="1100">
                <a:solidFill>
                  <a:srgbClr val="1E293B"/>
                </a:solidFill>
                <a:latin typeface="Arial"/>
              </a:defRPr>
            </a:pPr>
            <a:r>
              <a:t>• Amazon DynamoDB: Tự động ghi nhận bản ghi tiến trình với trạng thái PROCESSING và chuyển giao tác vụ bóc tách.</a:t>
            </a:r>
          </a:p>
        </p:txBody>
      </p:sp>
      <p:pic>
        <p:nvPicPr>
          <p:cNvPr id="7" name="Picture 6" descr="aws-serverless-event-pipeline.png"/>
          <p:cNvPicPr>
            <a:picLocks noChangeAspect="1"/>
          </p:cNvPicPr>
          <p:nvPr/>
        </p:nvPicPr>
        <p:blipFill>
          <a:blip r:embed="rId2"/>
          <a:stretch>
            <a:fillRect/>
          </a:stretch>
        </p:blipFill>
        <p:spPr>
          <a:xfrm>
            <a:off x="5029200" y="1188720"/>
            <a:ext cx="6583680" cy="366805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THIẾT KẾ DỮ LIỆU</a:t>
            </a:r>
          </a:p>
          <a:p>
            <a:pPr>
              <a:defRPr sz="2000" b="1">
                <a:solidFill>
                  <a:srgbClr val="FFFFFF"/>
                </a:solidFill>
                <a:latin typeface="Arial"/>
              </a:defRPr>
            </a:pPr>
            <a:r>
              <a:t>Mô hình Dữ liệu Đa công nghệ (Polyglot Persistence &amp; ERD)</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10 / 18</a:t>
            </a:r>
          </a:p>
        </p:txBody>
      </p:sp>
      <p:sp>
        <p:nvSpPr>
          <p:cNvPr id="6" name="Rounded Rectangle 5"/>
          <p:cNvSpPr/>
          <p:nvPr/>
        </p:nvSpPr>
        <p:spPr>
          <a:xfrm>
            <a:off x="731520" y="1280160"/>
            <a:ext cx="3383280" cy="502920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17320"/>
            <a:ext cx="3108960" cy="4754880"/>
          </a:xfrm>
          <a:prstGeom prst="rect">
            <a:avLst/>
          </a:prstGeom>
          <a:noFill/>
        </p:spPr>
        <p:txBody>
          <a:bodyPr wrap="square">
            <a:spAutoFit/>
          </a:bodyPr>
          <a:lstStyle/>
          <a:p>
            <a:pPr>
              <a:defRPr sz="1200" b="1">
                <a:solidFill>
                  <a:srgbClr val="0284C7"/>
                </a:solidFill>
                <a:latin typeface="Arial"/>
              </a:defRPr>
            </a:pPr>
            <a:r>
              <a:t>AMAZON DYNAMODB (NoSQL)</a:t>
            </a:r>
          </a:p>
          <a:p>
            <a:pPr>
              <a:defRPr sz="1050">
                <a:solidFill>
                  <a:srgbClr val="1E293B"/>
                </a:solidFill>
                <a:latin typeface="Arial"/>
              </a:defRPr>
            </a:pPr>
            <a:r>
              <a:t>Bảng huylam-ocr-jobs (On-Demand Mode)</a:t>
            </a:r>
            <a:br/>
            <a:r>
              <a:t>• Partition Key: job_id (UUID duy nhất)</a:t>
            </a:r>
            <a:br/>
            <a:r>
              <a:t>• Sort Key: created_at (Timestamp ISO 8601)</a:t>
            </a:r>
            <a:br/>
            <a:r>
              <a:t>• Thuộc tính: filename, status, total_pages, digital_pages, scanned_pages, processing_time_seconds, s3_uris.</a:t>
            </a:r>
            <a:br/>
            <a:r>
              <a:t>• Vai trò: Lưu trạng thái xử lý phi máy chủ, hỗ trợ hàng triệu truy vấn với độ trễ &lt; 10ms, chi phí 0.00 USD.</a:t>
            </a:r>
          </a:p>
        </p:txBody>
      </p:sp>
      <p:sp>
        <p:nvSpPr>
          <p:cNvPr id="8" name="Rounded Rectangle 7"/>
          <p:cNvSpPr/>
          <p:nvPr/>
        </p:nvSpPr>
        <p:spPr>
          <a:xfrm>
            <a:off x="4389120" y="1280160"/>
            <a:ext cx="3383280" cy="5029200"/>
          </a:xfrm>
          <a:prstGeom prst="roundRect">
            <a:avLst/>
          </a:prstGeom>
          <a:solidFill>
            <a:srgbClr val="F8FAFC"/>
          </a:solidFill>
          <a:ln w="1905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417320"/>
            <a:ext cx="3108960" cy="4754880"/>
          </a:xfrm>
          <a:prstGeom prst="rect">
            <a:avLst/>
          </a:prstGeom>
          <a:noFill/>
        </p:spPr>
        <p:txBody>
          <a:bodyPr wrap="square">
            <a:spAutoFit/>
          </a:bodyPr>
          <a:lstStyle/>
          <a:p>
            <a:pPr>
              <a:defRPr sz="1200" b="1">
                <a:solidFill>
                  <a:srgbClr val="FF9900"/>
                </a:solidFill>
                <a:latin typeface="Arial"/>
              </a:defRPr>
            </a:pPr>
            <a:r>
              <a:t>AMAZON S3 OBJECT STORAGE</a:t>
            </a:r>
          </a:p>
          <a:p>
            <a:pPr>
              <a:defRPr sz="1050">
                <a:solidFill>
                  <a:srgbClr val="1E293B"/>
                </a:solidFill>
                <a:latin typeface="Arial"/>
              </a:defRPr>
            </a:pPr>
            <a:r>
              <a:t>Bucket huylam-ocr-documents (Singapore)</a:t>
            </a:r>
            <a:br/>
            <a:r>
              <a:t>• uploads/{job_id}/: Chứa tài liệu gốc (PDF/ảnh) từ Presigned URL.</a:t>
            </a:r>
            <a:br/>
            <a:r>
              <a:t>• outputs/{job_id}/: Chứa kết quả trích xuất Markdown, bản dịch tiếng Việt, tệp Word (.docx) và PDF (.pdf).</a:t>
            </a:r>
            <a:br/>
            <a:r>
              <a:t>• Vai trò: Kho dữ liệu phi cấu trúc an toàn, độ bền 99.999999999% (11 số 9), mã hóa SSE-S3 AES-256.</a:t>
            </a:r>
          </a:p>
        </p:txBody>
      </p:sp>
      <p:sp>
        <p:nvSpPr>
          <p:cNvPr id="10" name="Rounded Rectangle 9"/>
          <p:cNvSpPr/>
          <p:nvPr/>
        </p:nvSpPr>
        <p:spPr>
          <a:xfrm>
            <a:off x="8046720" y="1280160"/>
            <a:ext cx="3383280" cy="5029200"/>
          </a:xfrm>
          <a:prstGeom prst="roundRect">
            <a:avLst/>
          </a:prstGeom>
          <a:solidFill>
            <a:srgbClr val="F8FAFC"/>
          </a:solidFill>
          <a:ln w="19050">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417320"/>
            <a:ext cx="3108960" cy="4754880"/>
          </a:xfrm>
          <a:prstGeom prst="rect">
            <a:avLst/>
          </a:prstGeom>
          <a:noFill/>
        </p:spPr>
        <p:txBody>
          <a:bodyPr wrap="square">
            <a:spAutoFit/>
          </a:bodyPr>
          <a:lstStyle/>
          <a:p>
            <a:pPr>
              <a:defRPr sz="1200" b="1">
                <a:solidFill>
                  <a:srgbClr val="232F3E"/>
                </a:solidFill>
                <a:latin typeface="Arial"/>
              </a:defRPr>
            </a:pPr>
            <a:r>
              <a:t>CƠ SỞ DỮ LIỆU QUAN HỆ (SQL)</a:t>
            </a:r>
          </a:p>
          <a:p>
            <a:pPr>
              <a:defRPr sz="1050">
                <a:solidFill>
                  <a:srgbClr val="1E293B"/>
                </a:solidFill>
                <a:latin typeface="Arial"/>
              </a:defRPr>
            </a:pPr>
            <a:r>
              <a:t>Schema 5 bảng quan hệ chuẩn hóa:</a:t>
            </a:r>
            <a:br/>
            <a:r>
              <a:t>• users: id (PK), username, email, password_hash, role.</a:t>
            </a:r>
            <a:br/>
            <a:r>
              <a:t>• documents: id (PK), user_id (FK), filename, status, markdown, processing_time.</a:t>
            </a:r>
            <a:br/>
            <a:r>
              <a:t>• api_keys: id (PK), provider, key_value, usage_count.</a:t>
            </a:r>
            <a:br/>
            <a:r>
              <a:t>• user_settings: user_id (PK, FK), theme, default_model.</a:t>
            </a:r>
            <a:br/>
            <a:r>
              <a:t>• user_daily_usage: (user_id, usage_date) (PK, FK).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TRÍ TUỆ NHÂN TẠO</a:t>
            </a:r>
          </a:p>
          <a:p>
            <a:pPr>
              <a:defRPr sz="2000" b="1">
                <a:solidFill>
                  <a:srgbClr val="FFFFFF"/>
                </a:solidFill>
                <a:latin typeface="Arial"/>
              </a:defRPr>
            </a:pPr>
            <a:r>
              <a:t>Module Dịch thuật Thuật ngữ Kỹ thuật &amp; Key Tour Manager</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11 / 18</a:t>
            </a:r>
          </a:p>
        </p:txBody>
      </p:sp>
      <p:sp>
        <p:nvSpPr>
          <p:cNvPr id="6" name="TextBox 5"/>
          <p:cNvSpPr txBox="1"/>
          <p:nvPr/>
        </p:nvSpPr>
        <p:spPr>
          <a:xfrm>
            <a:off x="731520" y="1280160"/>
            <a:ext cx="5303520" cy="5029200"/>
          </a:xfrm>
          <a:prstGeom prst="rect">
            <a:avLst/>
          </a:prstGeom>
          <a:noFill/>
        </p:spPr>
        <p:txBody>
          <a:bodyPr wrap="square">
            <a:spAutoFit/>
          </a:bodyPr>
          <a:lstStyle/>
          <a:p>
            <a:pPr>
              <a:defRPr sz="1400" b="1">
                <a:solidFill>
                  <a:srgbClr val="232F3E"/>
                </a:solidFill>
                <a:latin typeface="Arial"/>
              </a:defRPr>
            </a:pPr>
            <a:r>
              <a:t>Thuật toán Dịch thuật Kỹ thuật:</a:t>
            </a:r>
          </a:p>
          <a:p>
            <a:pPr>
              <a:defRPr sz="1150">
                <a:solidFill>
                  <a:srgbClr val="1E293B"/>
                </a:solidFill>
                <a:latin typeface="Arial"/>
              </a:defRPr>
            </a:pPr>
            <a:r>
              <a:t>• Bảo toàn Thuật ngữ: Sử dụng Prompt Engineering chuyên sâu bảo toàn nguyên vẹn tên dịch vụ AWS, mã lệnh shell, tham số cấu hình và công thức KaTeX.</a:t>
            </a:r>
          </a:p>
          <a:p>
            <a:pPr>
              <a:defRPr sz="1150">
                <a:solidFill>
                  <a:srgbClr val="1E293B"/>
                </a:solidFill>
                <a:latin typeface="Arial"/>
              </a:defRPr>
            </a:pPr>
            <a:r>
              <a:t>• Dịch thuật Bảng biểu: Dịch chính xác từng ô trong bảng Markdown mà không phá vỡ liên kết dòng và cột.</a:t>
            </a:r>
          </a:p>
          <a:p>
            <a:pPr>
              <a:defRPr sz="1150">
                <a:solidFill>
                  <a:srgbClr val="1E293B"/>
                </a:solidFill>
                <a:latin typeface="Arial"/>
              </a:defRPr>
            </a:pPr>
            <a:r>
              <a:t>• Đối chiếu Đoạn văn: Tự động phân đoạn (Chunking) theo ranh giới đoạn văn logic, đảm bảo ngữ cảnh liền mạch.</a:t>
            </a:r>
          </a:p>
          <a:p>
            <a:pPr>
              <a:defRPr sz="1150">
                <a:solidFill>
                  <a:srgbClr val="1E293B"/>
                </a:solidFill>
                <a:latin typeface="Arial"/>
              </a:defRPr>
            </a:pPr>
            <a:r>
              <a:t>• Tốc độ xử lý: Thời gian dịch trung bình chỉ 2.80 giây cho một trang tài liệu đầy đủ.</a:t>
            </a:r>
          </a:p>
        </p:txBody>
      </p:sp>
      <p:sp>
        <p:nvSpPr>
          <p:cNvPr id="7" name="Rounded Rectangle 6"/>
          <p:cNvSpPr/>
          <p:nvPr/>
        </p:nvSpPr>
        <p:spPr>
          <a:xfrm>
            <a:off x="6400800" y="1280160"/>
            <a:ext cx="5029200" cy="50292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463040"/>
            <a:ext cx="4572000" cy="4663440"/>
          </a:xfrm>
          <a:prstGeom prst="rect">
            <a:avLst/>
          </a:prstGeom>
          <a:noFill/>
        </p:spPr>
        <p:txBody>
          <a:bodyPr wrap="square">
            <a:spAutoFit/>
          </a:bodyPr>
          <a:lstStyle/>
          <a:p>
            <a:pPr>
              <a:defRPr sz="1400" b="1">
                <a:solidFill>
                  <a:srgbClr val="FF9900"/>
                </a:solidFill>
                <a:latin typeface="Arial"/>
              </a:defRPr>
            </a:pPr>
            <a:r>
              <a:t>Cơ chế Xoay vòng Khóa (Key Tour Manager):</a:t>
            </a:r>
          </a:p>
          <a:p>
            <a:pPr>
              <a:defRPr sz="1100">
                <a:solidFill>
                  <a:srgbClr val="1E293B"/>
                </a:solidFill>
                <a:latin typeface="Arial"/>
              </a:defRPr>
            </a:pPr>
            <a:r>
              <a:t>• Phân phối Tải Round-Robin: Xoay vòng thông minh qua danh sách API keys của nhiều nhà cung cấp (Kaggle GPU, Google Gemini, Groq).</a:t>
            </a:r>
          </a:p>
          <a:p>
            <a:pPr>
              <a:defRPr sz="1100">
                <a:solidFill>
                  <a:srgbClr val="1E293B"/>
                </a:solidFill>
                <a:latin typeface="Arial"/>
              </a:defRPr>
            </a:pPr>
            <a:r>
              <a:t>• Chống nghẽn Rate Limit: Theo dõi số lượt gọi usage_count và tự động chuyển sang key kế tiếp khi đạt ngưỡng tải.</a:t>
            </a:r>
          </a:p>
          <a:p>
            <a:pPr>
              <a:defRPr sz="1100">
                <a:solidFill>
                  <a:srgbClr val="1E293B"/>
                </a:solidFill>
                <a:latin typeface="Arial"/>
              </a:defRPr>
            </a:pPr>
            <a:r>
              <a:t>• Cơ chế Exponential Backoff: Tự động lùi thời gian thử lại khi gặp mã lỗi 429 Too Many Requests, đảm bảo tỷ lệ gọi thành công 99.99%.</a:t>
            </a:r>
          </a:p>
          <a:p>
            <a:pPr>
              <a:defRPr sz="1100">
                <a:solidFill>
                  <a:srgbClr val="1E293B"/>
                </a:solidFill>
                <a:latin typeface="Arial"/>
              </a:defRPr>
            </a:pPr>
            <a:r>
              <a:t>• Quản trị Động: Cho phép thêm, xóa, bật/tắt khóa trực tiếp từ bảng điều khiển quản trị mà không cần khởi động lại máy chủ.</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XUẤT BẢN TÀI LIỆU</a:t>
            </a:r>
          </a:p>
          <a:p>
            <a:pPr>
              <a:defRPr sz="2000" b="1">
                <a:solidFill>
                  <a:srgbClr val="FFFFFF"/>
                </a:solidFill>
                <a:latin typeface="Arial"/>
              </a:defRPr>
            </a:pPr>
            <a:r>
              <a:t>Bộ Xuất bản Đa định dạng Chuẩn Học thuật (Multi-Format Exporters)</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12 / 18</a:t>
            </a:r>
          </a:p>
        </p:txBody>
      </p:sp>
      <p:sp>
        <p:nvSpPr>
          <p:cNvPr id="6" name="Rounded Rectangle 5"/>
          <p:cNvSpPr/>
          <p:nvPr/>
        </p:nvSpPr>
        <p:spPr>
          <a:xfrm>
            <a:off x="731520" y="1280160"/>
            <a:ext cx="3383280" cy="5029200"/>
          </a:xfrm>
          <a:prstGeom prst="roundRect">
            <a:avLst/>
          </a:prstGeom>
          <a:solidFill>
            <a:srgbClr val="F8FAFC"/>
          </a:solidFill>
          <a:ln w="19050">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17320"/>
            <a:ext cx="3108960" cy="4754880"/>
          </a:xfrm>
          <a:prstGeom prst="rect">
            <a:avLst/>
          </a:prstGeom>
          <a:noFill/>
        </p:spPr>
        <p:txBody>
          <a:bodyPr wrap="square">
            <a:spAutoFit/>
          </a:bodyPr>
          <a:lstStyle/>
          <a:p>
            <a:pPr>
              <a:defRPr sz="1200" b="1">
                <a:solidFill>
                  <a:srgbClr val="232F3E"/>
                </a:solidFill>
                <a:latin typeface="Arial"/>
              </a:defRPr>
            </a:pPr>
            <a:r>
              <a:t>MARKDOWN EXPORTER (.md)</a:t>
            </a:r>
          </a:p>
          <a:p>
            <a:pPr>
              <a:defRPr sz="1100">
                <a:solidFill>
                  <a:srgbClr val="1E293B"/>
                </a:solidFill>
                <a:latin typeface="Arial"/>
              </a:defRPr>
            </a:pPr>
            <a:r>
              <a:t>Chuẩn hóa GitHub-Flavored Markdown</a:t>
            </a:r>
            <a:br/>
            <a:r>
              <a:t>• Hỗ trợ công thức toán học KaTeX ($...$ và $$...$$).</a:t>
            </a:r>
            <a:br/>
            <a:r>
              <a:t>• Bảo toàn bảng biểu Markdown chuẩn căn lề.</a:t>
            </a:r>
            <a:br/>
            <a:r>
              <a:t>• Nhúng hình ảnh sơ đồ kỹ thuật và khối mã nguồn có định dạng cú pháp.</a:t>
            </a:r>
          </a:p>
        </p:txBody>
      </p:sp>
      <p:sp>
        <p:nvSpPr>
          <p:cNvPr id="8" name="Rounded Rectangle 7"/>
          <p:cNvSpPr/>
          <p:nvPr/>
        </p:nvSpPr>
        <p:spPr>
          <a:xfrm>
            <a:off x="4389120" y="1280160"/>
            <a:ext cx="3383280" cy="502920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417320"/>
            <a:ext cx="3108960" cy="4754880"/>
          </a:xfrm>
          <a:prstGeom prst="rect">
            <a:avLst/>
          </a:prstGeom>
          <a:noFill/>
        </p:spPr>
        <p:txBody>
          <a:bodyPr wrap="square">
            <a:spAutoFit/>
          </a:bodyPr>
          <a:lstStyle/>
          <a:p>
            <a:pPr>
              <a:defRPr sz="1200" b="1">
                <a:solidFill>
                  <a:srgbClr val="0284C7"/>
                </a:solidFill>
                <a:latin typeface="Arial"/>
              </a:defRPr>
            </a:pPr>
            <a:r>
              <a:t>MICROSOFT WORD (.docx)</a:t>
            </a:r>
          </a:p>
          <a:p>
            <a:pPr>
              <a:defRPr sz="1100">
                <a:solidFill>
                  <a:srgbClr val="1E293B"/>
                </a:solidFill>
                <a:latin typeface="Arial"/>
              </a:defRPr>
            </a:pPr>
            <a:r>
              <a:t>Monochrome Academic Style</a:t>
            </a:r>
            <a:br/>
            <a:r>
              <a:t>• Cỡ chữ Times New Roman 13pt, dãn dòng 1.2pt chuẩn in ấn.</a:t>
            </a:r>
            <a:br/>
            <a:r>
              <a:t>• Bảng biểu viền đen 0.5pt, tiêu đề in đậm nền trong suốt.</a:t>
            </a:r>
            <a:br/>
            <a:r>
              <a:t>• Căn đều 2 lề (Justified), thụt đầu dòng 1.27 cm chuẩn mực.</a:t>
            </a:r>
            <a:br/>
            <a:r>
              <a:t>• Siêu liên kết (hyperlinks) giữ nguyên màu xanh bấm được.</a:t>
            </a:r>
          </a:p>
        </p:txBody>
      </p:sp>
      <p:sp>
        <p:nvSpPr>
          <p:cNvPr id="10" name="Rounded Rectangle 9"/>
          <p:cNvSpPr/>
          <p:nvPr/>
        </p:nvSpPr>
        <p:spPr>
          <a:xfrm>
            <a:off x="8046720" y="1280160"/>
            <a:ext cx="3383280" cy="5029200"/>
          </a:xfrm>
          <a:prstGeom prst="roundRect">
            <a:avLst/>
          </a:prstGeom>
          <a:solidFill>
            <a:srgbClr val="F8FAFC"/>
          </a:solidFill>
          <a:ln w="1905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417320"/>
            <a:ext cx="3108960" cy="4754880"/>
          </a:xfrm>
          <a:prstGeom prst="rect">
            <a:avLst/>
          </a:prstGeom>
          <a:noFill/>
        </p:spPr>
        <p:txBody>
          <a:bodyPr wrap="square">
            <a:spAutoFit/>
          </a:bodyPr>
          <a:lstStyle/>
          <a:p>
            <a:pPr>
              <a:defRPr sz="1200" b="1">
                <a:solidFill>
                  <a:srgbClr val="FF9900"/>
                </a:solidFill>
                <a:latin typeface="Arial"/>
              </a:defRPr>
            </a:pPr>
            <a:r>
              <a:t>ADOBE PDF EXPORTER (.pdf)</a:t>
            </a:r>
          </a:p>
          <a:p>
            <a:pPr>
              <a:defRPr sz="1100">
                <a:solidFill>
                  <a:srgbClr val="1E293B"/>
                </a:solidFill>
                <a:latin typeface="Arial"/>
              </a:defRPr>
            </a:pPr>
            <a:r>
              <a:t>Chuẩn Nộp Lưu chiểu (&lt; 10 MB)</a:t>
            </a:r>
            <a:br/>
            <a:r>
              <a:t>• Tái nén ảnh thông minh PyMuPDF chất lượng cao (quality=92, 180 DPI).</a:t>
            </a:r>
            <a:br/>
            <a:r>
              <a:t>• Giảm dung lượng từ 10.36 MB xuống 5.11 MB (-50.7%).</a:t>
            </a:r>
            <a:br/>
            <a:r>
              <a:t>• Bảo toàn 100% 42 trang in và 94 siêu liên kết hoạt động hoàn hảo.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KIỂM CHỨNG ỨNG DỤNG</a:t>
            </a:r>
          </a:p>
          <a:p>
            <a:pPr>
              <a:defRPr sz="2000" b="1">
                <a:solidFill>
                  <a:srgbClr val="FFFFFF"/>
                </a:solidFill>
                <a:latin typeface="Arial"/>
              </a:defRPr>
            </a:pPr>
            <a:r>
              <a:t>Giao diện Web Studio &amp; Trình Soạn thảo Đối chiếu Song ngữ</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13 / 18</a:t>
            </a:r>
          </a:p>
        </p:txBody>
      </p:sp>
      <p:pic>
        <p:nvPicPr>
          <p:cNvPr id="6" name="Picture 5" descr="03-studio-cv-extracted-translated.png"/>
          <p:cNvPicPr>
            <a:picLocks noChangeAspect="1"/>
          </p:cNvPicPr>
          <p:nvPr/>
        </p:nvPicPr>
        <p:blipFill>
          <a:blip r:embed="rId2"/>
          <a:stretch>
            <a:fillRect/>
          </a:stretch>
        </p:blipFill>
        <p:spPr>
          <a:xfrm>
            <a:off x="731520" y="1188720"/>
            <a:ext cx="6583680" cy="4114800"/>
          </a:xfrm>
          <a:prstGeom prst="rect">
            <a:avLst/>
          </a:prstGeom>
        </p:spPr>
      </p:pic>
      <p:sp>
        <p:nvSpPr>
          <p:cNvPr id="7" name="TextBox 6"/>
          <p:cNvSpPr txBox="1"/>
          <p:nvPr/>
        </p:nvSpPr>
        <p:spPr>
          <a:xfrm>
            <a:off x="7498079" y="1188720"/>
            <a:ext cx="4023360" cy="5303520"/>
          </a:xfrm>
          <a:prstGeom prst="rect">
            <a:avLst/>
          </a:prstGeom>
          <a:noFill/>
        </p:spPr>
        <p:txBody>
          <a:bodyPr wrap="square">
            <a:spAutoFit/>
          </a:bodyPr>
          <a:lstStyle/>
          <a:p>
            <a:pPr>
              <a:defRPr sz="1400" b="1">
                <a:solidFill>
                  <a:srgbClr val="232F3E"/>
                </a:solidFill>
                <a:latin typeface="Arial"/>
              </a:defRPr>
            </a:pPr>
            <a:r>
              <a:t>Tính năng Nổi bật trên Giao diện:</a:t>
            </a:r>
          </a:p>
          <a:p>
            <a:pPr>
              <a:defRPr sz="1150">
                <a:solidFill>
                  <a:srgbClr val="1E293B"/>
                </a:solidFill>
                <a:latin typeface="Arial"/>
              </a:defRPr>
            </a:pPr>
            <a:r>
              <a:t>• Kéo thả Trực quan: Hỗ trợ kéo thả PDF, PNG, JPG lên tới 50 MB.</a:t>
            </a:r>
          </a:p>
          <a:p>
            <a:pPr>
              <a:defRPr sz="1150">
                <a:solidFill>
                  <a:srgbClr val="1E293B"/>
                </a:solidFill>
                <a:latin typeface="Arial"/>
              </a:defRPr>
            </a:pPr>
            <a:r>
              <a:t>• Tùy chọn Chế độ Xử lý: Tự động phân loại hoặc ép buộc Fast-Path / Vision OCR theo mong muốn.</a:t>
            </a:r>
          </a:p>
          <a:p>
            <a:pPr>
              <a:defRPr sz="1150">
                <a:solidFill>
                  <a:srgbClr val="1E293B"/>
                </a:solidFill>
                <a:latin typeface="Arial"/>
              </a:defRPr>
            </a:pPr>
            <a:r>
              <a:t>• Bilingual Side-by-Side: Trình soạn thảo song ngữ cho phép đọc văn bản gốc bên trái và bản dịch tiếng Việt bên phải song song.</a:t>
            </a:r>
          </a:p>
          <a:p>
            <a:pPr>
              <a:defRPr sz="1150">
                <a:solidFill>
                  <a:srgbClr val="1E293B"/>
                </a:solidFill>
                <a:latin typeface="Arial"/>
              </a:defRPr>
            </a:pPr>
            <a:r>
              <a:t>• Xem trước Thời gian thực: Xem ngay kết quả định dạng và tải về Word, PDF tức thì chỉ với một cú nhấp chuột.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ĐO KIỂM THỰC NGHIỆM</a:t>
            </a:r>
          </a:p>
          <a:p>
            <a:pPr>
              <a:defRPr sz="2000" b="1">
                <a:solidFill>
                  <a:srgbClr val="FFFFFF"/>
                </a:solidFill>
                <a:latin typeface="Arial"/>
              </a:defRPr>
            </a:pPr>
            <a:r>
              <a:t>Số liệu Thực nghiệm Hiệu năng &amp; So sánh Động cơ (Benchmark)</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14 / 18</a:t>
            </a:r>
          </a:p>
        </p:txBody>
      </p:sp>
      <p:graphicFrame>
        <p:nvGraphicFramePr>
          <p:cNvPr id="6" name="Table 5"/>
          <p:cNvGraphicFramePr>
            <a:graphicFrameLocks noGrp="1"/>
          </p:cNvGraphicFramePr>
          <p:nvPr/>
        </p:nvGraphicFramePr>
        <p:xfrm>
          <a:off x="731520" y="1280160"/>
          <a:ext cx="10698480" cy="2926080"/>
        </p:xfrm>
        <a:graphic>
          <a:graphicData uri="http://schemas.openxmlformats.org/drawingml/2006/table">
            <a:tbl>
              <a:tblPr firstRow="1" bandRow="1">
                <a:tableStyleId>{5C22544A-7EE6-4342-B048-85BDC9FD1C3A}</a:tableStyleId>
              </a:tblPr>
              <a:tblGrid>
                <a:gridCol w="2560320"/>
                <a:gridCol w="2011680"/>
                <a:gridCol w="2468880"/>
                <a:gridCol w="1828800"/>
                <a:gridCol w="1828800"/>
              </a:tblGrid>
              <a:tr h="487680">
                <a:tc>
                  <a:txBody>
                    <a:bodyPr/>
                    <a:lstStyle/>
                    <a:p>
                      <a:pPr algn="ctr">
                        <a:defRPr sz="1100" b="1">
                          <a:solidFill>
                            <a:srgbClr val="FFFFFF"/>
                          </a:solidFill>
                          <a:latin typeface="Arial"/>
                        </a:defRPr>
                      </a:pPr>
                      <a:r>
                        <a:t>Tác vụ Thực nghiệm</a:t>
                      </a:r>
                    </a:p>
                  </a:txBody>
                  <a:tcPr>
                    <a:solidFill>
                      <a:srgbClr val="232F3E"/>
                    </a:solidFill>
                  </a:tcPr>
                </a:tc>
                <a:tc>
                  <a:txBody>
                    <a:bodyPr/>
                    <a:lstStyle/>
                    <a:p>
                      <a:pPr algn="ctr">
                        <a:defRPr sz="1100" b="1">
                          <a:solidFill>
                            <a:srgbClr val="FFFFFF"/>
                          </a:solidFill>
                          <a:latin typeface="Arial"/>
                        </a:defRPr>
                      </a:pPr>
                      <a:r>
                        <a:t>Tài liệu Kiểm thử</a:t>
                      </a:r>
                    </a:p>
                  </a:txBody>
                  <a:tcPr>
                    <a:solidFill>
                      <a:srgbClr val="232F3E"/>
                    </a:solidFill>
                  </a:tcPr>
                </a:tc>
                <a:tc>
                  <a:txBody>
                    <a:bodyPr/>
                    <a:lstStyle/>
                    <a:p>
                      <a:pPr algn="ctr">
                        <a:defRPr sz="1100" b="1">
                          <a:solidFill>
                            <a:srgbClr val="FFFFFF"/>
                          </a:solidFill>
                          <a:latin typeface="Arial"/>
                        </a:defRPr>
                      </a:pPr>
                      <a:r>
                        <a:t>Động cơ Thực thi</a:t>
                      </a:r>
                    </a:p>
                  </a:txBody>
                  <a:tcPr>
                    <a:solidFill>
                      <a:srgbClr val="232F3E"/>
                    </a:solidFill>
                  </a:tcPr>
                </a:tc>
                <a:tc>
                  <a:txBody>
                    <a:bodyPr/>
                    <a:lstStyle/>
                    <a:p>
                      <a:pPr algn="ctr">
                        <a:defRPr sz="1100" b="1">
                          <a:solidFill>
                            <a:srgbClr val="FFFFFF"/>
                          </a:solidFill>
                          <a:latin typeface="Arial"/>
                        </a:defRPr>
                      </a:pPr>
                      <a:r>
                        <a:t>Thời gian Xử lý</a:t>
                      </a:r>
                    </a:p>
                  </a:txBody>
                  <a:tcPr>
                    <a:solidFill>
                      <a:srgbClr val="232F3E"/>
                    </a:solidFill>
                  </a:tcPr>
                </a:tc>
                <a:tc>
                  <a:txBody>
                    <a:bodyPr/>
                    <a:lstStyle/>
                    <a:p>
                      <a:pPr algn="ctr">
                        <a:defRPr sz="1100" b="1">
                          <a:solidFill>
                            <a:srgbClr val="FFFFFF"/>
                          </a:solidFill>
                          <a:latin typeface="Arial"/>
                        </a:defRPr>
                      </a:pPr>
                      <a:r>
                        <a:t>Chi phí AWS</a:t>
                      </a:r>
                    </a:p>
                  </a:txBody>
                  <a:tcPr>
                    <a:solidFill>
                      <a:srgbClr val="232F3E"/>
                    </a:solidFill>
                  </a:tcPr>
                </a:tc>
              </a:tr>
              <a:tr h="487680">
                <a:tc>
                  <a:txBody>
                    <a:bodyPr/>
                    <a:lstStyle/>
                    <a:p>
                      <a:pPr>
                        <a:defRPr sz="1050">
                          <a:solidFill>
                            <a:srgbClr val="1E293B"/>
                          </a:solidFill>
                          <a:latin typeface="Arial"/>
                        </a:defRPr>
                      </a:pPr>
                      <a:r>
                        <a:t>Bóc tách PDF văn bản số</a:t>
                      </a:r>
                    </a:p>
                  </a:txBody>
                  <a:tcPr>
                    <a:solidFill>
                      <a:srgbClr val="FFFFFF"/>
                    </a:solidFill>
                  </a:tcPr>
                </a:tc>
                <a:tc>
                  <a:txBody>
                    <a:bodyPr/>
                    <a:lstStyle/>
                    <a:p>
                      <a:pPr>
                        <a:defRPr sz="1050">
                          <a:solidFill>
                            <a:srgbClr val="1E293B"/>
                          </a:solidFill>
                          <a:latin typeface="Arial"/>
                        </a:defRPr>
                      </a:pPr>
                      <a:r>
                        <a:t>cv.pdf (1 trang)</a:t>
                      </a:r>
                    </a:p>
                  </a:txBody>
                  <a:tcPr>
                    <a:solidFill>
                      <a:srgbClr val="FFFFFF"/>
                    </a:solidFill>
                  </a:tcPr>
                </a:tc>
                <a:tc>
                  <a:txBody>
                    <a:bodyPr/>
                    <a:lstStyle/>
                    <a:p>
                      <a:pPr>
                        <a:defRPr sz="1050">
                          <a:solidFill>
                            <a:srgbClr val="1E293B"/>
                          </a:solidFill>
                          <a:latin typeface="Arial"/>
                        </a:defRPr>
                      </a:pPr>
                      <a:r>
                        <a:t>Fast-Path (PyMuPDF)</a:t>
                      </a:r>
                    </a:p>
                  </a:txBody>
                  <a:tcPr>
                    <a:solidFill>
                      <a:srgbClr val="FFFFFF"/>
                    </a:solidFill>
                  </a:tcPr>
                </a:tc>
                <a:tc>
                  <a:txBody>
                    <a:bodyPr/>
                    <a:lstStyle/>
                    <a:p>
                      <a:pPr algn="ctr">
                        <a:defRPr sz="1050" b="1">
                          <a:solidFill>
                            <a:srgbClr val="1E293B"/>
                          </a:solidFill>
                          <a:latin typeface="Arial"/>
                        </a:defRPr>
                      </a:pPr>
                      <a:r>
                        <a:t>0.31 giây</a:t>
                      </a:r>
                    </a:p>
                  </a:txBody>
                  <a:tcPr>
                    <a:solidFill>
                      <a:srgbClr val="FFFFFF"/>
                    </a:solidFill>
                  </a:tcPr>
                </a:tc>
                <a:tc>
                  <a:txBody>
                    <a:bodyPr/>
                    <a:lstStyle/>
                    <a:p>
                      <a:pPr algn="ctr">
                        <a:defRPr sz="1050" b="1">
                          <a:solidFill>
                            <a:srgbClr val="1095C1"/>
                          </a:solidFill>
                          <a:latin typeface="Arial"/>
                        </a:defRPr>
                      </a:pPr>
                      <a:r>
                        <a:t>0.00 USD</a:t>
                      </a:r>
                    </a:p>
                  </a:txBody>
                  <a:tcPr>
                    <a:solidFill>
                      <a:srgbClr val="FFFFFF"/>
                    </a:solidFill>
                  </a:tcPr>
                </a:tc>
              </a:tr>
              <a:tr h="487680">
                <a:tc>
                  <a:txBody>
                    <a:bodyPr/>
                    <a:lstStyle/>
                    <a:p>
                      <a:pPr>
                        <a:defRPr sz="1050">
                          <a:solidFill>
                            <a:srgbClr val="1E293B"/>
                          </a:solidFill>
                          <a:latin typeface="Arial"/>
                        </a:defRPr>
                      </a:pPr>
                      <a:r>
                        <a:t>Bóc tách bài báo khoa học</a:t>
                      </a:r>
                    </a:p>
                  </a:txBody>
                  <a:tcPr>
                    <a:solidFill>
                      <a:srgbClr val="F8FAFC"/>
                    </a:solidFill>
                  </a:tcPr>
                </a:tc>
                <a:tc>
                  <a:txBody>
                    <a:bodyPr/>
                    <a:lstStyle/>
                    <a:p>
                      <a:pPr>
                        <a:defRPr sz="1050">
                          <a:solidFill>
                            <a:srgbClr val="1E293B"/>
                          </a:solidFill>
                          <a:latin typeface="Arial"/>
                        </a:defRPr>
                      </a:pPr>
                      <a:r>
                        <a:t>28_Bai_Bao.pdf (11 trang)</a:t>
                      </a:r>
                    </a:p>
                  </a:txBody>
                  <a:tcPr>
                    <a:solidFill>
                      <a:srgbClr val="F8FAFC"/>
                    </a:solidFill>
                  </a:tcPr>
                </a:tc>
                <a:tc>
                  <a:txBody>
                    <a:bodyPr/>
                    <a:lstStyle/>
                    <a:p>
                      <a:pPr>
                        <a:defRPr sz="1050">
                          <a:solidFill>
                            <a:srgbClr val="1E293B"/>
                          </a:solidFill>
                          <a:latin typeface="Arial"/>
                        </a:defRPr>
                      </a:pPr>
                      <a:r>
                        <a:t>Fast-Path (PyMuPDF)</a:t>
                      </a:r>
                    </a:p>
                  </a:txBody>
                  <a:tcPr>
                    <a:solidFill>
                      <a:srgbClr val="F8FAFC"/>
                    </a:solidFill>
                  </a:tcPr>
                </a:tc>
                <a:tc>
                  <a:txBody>
                    <a:bodyPr/>
                    <a:lstStyle/>
                    <a:p>
                      <a:pPr algn="ctr">
                        <a:defRPr sz="1050" b="1">
                          <a:solidFill>
                            <a:srgbClr val="1E293B"/>
                          </a:solidFill>
                          <a:latin typeface="Arial"/>
                        </a:defRPr>
                      </a:pPr>
                      <a:r>
                        <a:t>3.07 giây (0.28s/trang)</a:t>
                      </a:r>
                    </a:p>
                  </a:txBody>
                  <a:tcPr>
                    <a:solidFill>
                      <a:srgbClr val="F8FAFC"/>
                    </a:solidFill>
                  </a:tcPr>
                </a:tc>
                <a:tc>
                  <a:txBody>
                    <a:bodyPr/>
                    <a:lstStyle/>
                    <a:p>
                      <a:pPr algn="ctr">
                        <a:defRPr sz="1050" b="1">
                          <a:solidFill>
                            <a:srgbClr val="1095C1"/>
                          </a:solidFill>
                          <a:latin typeface="Arial"/>
                        </a:defRPr>
                      </a:pPr>
                      <a:r>
                        <a:t>0.00 USD</a:t>
                      </a:r>
                    </a:p>
                  </a:txBody>
                  <a:tcPr>
                    <a:solidFill>
                      <a:srgbClr val="F8FAFC"/>
                    </a:solidFill>
                  </a:tcPr>
                </a:tc>
              </a:tr>
              <a:tr h="487680">
                <a:tc>
                  <a:txBody>
                    <a:bodyPr/>
                    <a:lstStyle/>
                    <a:p>
                      <a:pPr>
                        <a:defRPr sz="1050">
                          <a:solidFill>
                            <a:srgbClr val="1E293B"/>
                          </a:solidFill>
                          <a:latin typeface="Arial"/>
                        </a:defRPr>
                      </a:pPr>
                      <a:r>
                        <a:t>Bóc tách ảnh scan biểu mẫu</a:t>
                      </a:r>
                    </a:p>
                  </a:txBody>
                  <a:tcPr>
                    <a:solidFill>
                      <a:srgbClr val="FFFFFF"/>
                    </a:solidFill>
                  </a:tcPr>
                </a:tc>
                <a:tc>
                  <a:txBody>
                    <a:bodyPr/>
                    <a:lstStyle/>
                    <a:p>
                      <a:pPr>
                        <a:defRPr sz="1050">
                          <a:solidFill>
                            <a:srgbClr val="1E293B"/>
                          </a:solidFill>
                          <a:latin typeface="Arial"/>
                        </a:defRPr>
                      </a:pPr>
                      <a:r>
                        <a:t>Ảnh scan hóa đơn</a:t>
                      </a:r>
                    </a:p>
                  </a:txBody>
                  <a:tcPr>
                    <a:solidFill>
                      <a:srgbClr val="FFFFFF"/>
                    </a:solidFill>
                  </a:tcPr>
                </a:tc>
                <a:tc>
                  <a:txBody>
                    <a:bodyPr/>
                    <a:lstStyle/>
                    <a:p>
                      <a:pPr>
                        <a:defRPr sz="1050">
                          <a:solidFill>
                            <a:srgbClr val="1E293B"/>
                          </a:solidFill>
                          <a:latin typeface="Arial"/>
                        </a:defRPr>
                      </a:pPr>
                      <a:r>
                        <a:t>Vision OCR (Kaggle/Gemini)</a:t>
                      </a:r>
                    </a:p>
                  </a:txBody>
                  <a:tcPr>
                    <a:solidFill>
                      <a:srgbClr val="FFFFFF"/>
                    </a:solidFill>
                  </a:tcPr>
                </a:tc>
                <a:tc>
                  <a:txBody>
                    <a:bodyPr/>
                    <a:lstStyle/>
                    <a:p>
                      <a:pPr algn="ctr">
                        <a:defRPr sz="1050" b="1">
                          <a:solidFill>
                            <a:srgbClr val="1E293B"/>
                          </a:solidFill>
                          <a:latin typeface="Arial"/>
                        </a:defRPr>
                      </a:pPr>
                      <a:r>
                        <a:t>2.54 giây</a:t>
                      </a:r>
                    </a:p>
                  </a:txBody>
                  <a:tcPr>
                    <a:solidFill>
                      <a:srgbClr val="FFFFFF"/>
                    </a:solidFill>
                  </a:tcPr>
                </a:tc>
                <a:tc>
                  <a:txBody>
                    <a:bodyPr/>
                    <a:lstStyle/>
                    <a:p>
                      <a:pPr algn="ctr">
                        <a:defRPr sz="1050" b="1">
                          <a:solidFill>
                            <a:srgbClr val="1095C1"/>
                          </a:solidFill>
                          <a:latin typeface="Arial"/>
                        </a:defRPr>
                      </a:pPr>
                      <a:r>
                        <a:t>0.00 USD</a:t>
                      </a:r>
                    </a:p>
                  </a:txBody>
                  <a:tcPr>
                    <a:solidFill>
                      <a:srgbClr val="FFFFFF"/>
                    </a:solidFill>
                  </a:tcPr>
                </a:tc>
              </a:tr>
              <a:tr h="487680">
                <a:tc>
                  <a:txBody>
                    <a:bodyPr/>
                    <a:lstStyle/>
                    <a:p>
                      <a:pPr>
                        <a:defRPr sz="1050">
                          <a:solidFill>
                            <a:srgbClr val="1E293B"/>
                          </a:solidFill>
                          <a:latin typeface="Arial"/>
                        </a:defRPr>
                      </a:pPr>
                      <a:r>
                        <a:t>Dịch thuật ngữ kỹ thuật</a:t>
                      </a:r>
                    </a:p>
                  </a:txBody>
                  <a:tcPr>
                    <a:solidFill>
                      <a:srgbClr val="F8FAFC"/>
                    </a:solidFill>
                  </a:tcPr>
                </a:tc>
                <a:tc>
                  <a:txBody>
                    <a:bodyPr/>
                    <a:lstStyle/>
                    <a:p>
                      <a:pPr>
                        <a:defRPr sz="1050">
                          <a:solidFill>
                            <a:srgbClr val="1E293B"/>
                          </a:solidFill>
                          <a:latin typeface="Arial"/>
                        </a:defRPr>
                      </a:pPr>
                      <a:r>
                        <a:t>cv.pdf (Anh -&gt; Việt)</a:t>
                      </a:r>
                    </a:p>
                  </a:txBody>
                  <a:tcPr>
                    <a:solidFill>
                      <a:srgbClr val="F8FAFC"/>
                    </a:solidFill>
                  </a:tcPr>
                </a:tc>
                <a:tc>
                  <a:txBody>
                    <a:bodyPr/>
                    <a:lstStyle/>
                    <a:p>
                      <a:pPr>
                        <a:defRPr sz="1050">
                          <a:solidFill>
                            <a:srgbClr val="1E293B"/>
                          </a:solidFill>
                          <a:latin typeface="Arial"/>
                        </a:defRPr>
                      </a:pPr>
                      <a:r>
                        <a:t>DocumentTranslator (LLM)</a:t>
                      </a:r>
                    </a:p>
                  </a:txBody>
                  <a:tcPr>
                    <a:solidFill>
                      <a:srgbClr val="F8FAFC"/>
                    </a:solidFill>
                  </a:tcPr>
                </a:tc>
                <a:tc>
                  <a:txBody>
                    <a:bodyPr/>
                    <a:lstStyle/>
                    <a:p>
                      <a:pPr algn="ctr">
                        <a:defRPr sz="1050" b="1">
                          <a:solidFill>
                            <a:srgbClr val="1E293B"/>
                          </a:solidFill>
                          <a:latin typeface="Arial"/>
                        </a:defRPr>
                      </a:pPr>
                      <a:r>
                        <a:t>2.80 giây</a:t>
                      </a:r>
                    </a:p>
                  </a:txBody>
                  <a:tcPr>
                    <a:solidFill>
                      <a:srgbClr val="F8FAFC"/>
                    </a:solidFill>
                  </a:tcPr>
                </a:tc>
                <a:tc>
                  <a:txBody>
                    <a:bodyPr/>
                    <a:lstStyle/>
                    <a:p>
                      <a:pPr algn="ctr">
                        <a:defRPr sz="1050" b="1">
                          <a:solidFill>
                            <a:srgbClr val="1095C1"/>
                          </a:solidFill>
                          <a:latin typeface="Arial"/>
                        </a:defRPr>
                      </a:pPr>
                      <a:r>
                        <a:t>0.00 USD</a:t>
                      </a:r>
                    </a:p>
                  </a:txBody>
                  <a:tcPr>
                    <a:solidFill>
                      <a:srgbClr val="F8FAFC"/>
                    </a:solidFill>
                  </a:tcPr>
                </a:tc>
              </a:tr>
              <a:tr h="487680">
                <a:tc>
                  <a:txBody>
                    <a:bodyPr/>
                    <a:lstStyle/>
                    <a:p>
                      <a:pPr>
                        <a:defRPr sz="1050">
                          <a:solidFill>
                            <a:srgbClr val="1E293B"/>
                          </a:solidFill>
                          <a:latin typeface="Arial"/>
                        </a:defRPr>
                      </a:pPr>
                      <a:r>
                        <a:t>Kết xuất tài liệu Word</a:t>
                      </a:r>
                    </a:p>
                  </a:txBody>
                  <a:tcPr>
                    <a:solidFill>
                      <a:srgbClr val="FFFFFF"/>
                    </a:solidFill>
                  </a:tcPr>
                </a:tc>
                <a:tc>
                  <a:txBody>
                    <a:bodyPr/>
                    <a:lstStyle/>
                    <a:p>
                      <a:pPr>
                        <a:defRPr sz="1050">
                          <a:solidFill>
                            <a:srgbClr val="1E293B"/>
                          </a:solidFill>
                          <a:latin typeface="Arial"/>
                        </a:defRPr>
                      </a:pPr>
                      <a:r>
                        <a:t>Tệp sau khi dịch</a:t>
                      </a:r>
                    </a:p>
                  </a:txBody>
                  <a:tcPr>
                    <a:solidFill>
                      <a:srgbClr val="FFFFFF"/>
                    </a:solidFill>
                  </a:tcPr>
                </a:tc>
                <a:tc>
                  <a:txBody>
                    <a:bodyPr/>
                    <a:lstStyle/>
                    <a:p>
                      <a:pPr>
                        <a:defRPr sz="1050">
                          <a:solidFill>
                            <a:srgbClr val="1E293B"/>
                          </a:solidFill>
                          <a:latin typeface="Arial"/>
                        </a:defRPr>
                      </a:pPr>
                      <a:r>
                        <a:t>DocxExporter Module</a:t>
                      </a:r>
                    </a:p>
                  </a:txBody>
                  <a:tcPr>
                    <a:solidFill>
                      <a:srgbClr val="FFFFFF"/>
                    </a:solidFill>
                  </a:tcPr>
                </a:tc>
                <a:tc>
                  <a:txBody>
                    <a:bodyPr/>
                    <a:lstStyle/>
                    <a:p>
                      <a:pPr algn="ctr">
                        <a:defRPr sz="1050" b="1">
                          <a:solidFill>
                            <a:srgbClr val="1E293B"/>
                          </a:solidFill>
                          <a:latin typeface="Arial"/>
                        </a:defRPr>
                      </a:pPr>
                      <a:r>
                        <a:t>0.15 giây</a:t>
                      </a:r>
                    </a:p>
                  </a:txBody>
                  <a:tcPr>
                    <a:solidFill>
                      <a:srgbClr val="FFFFFF"/>
                    </a:solidFill>
                  </a:tcPr>
                </a:tc>
                <a:tc>
                  <a:txBody>
                    <a:bodyPr/>
                    <a:lstStyle/>
                    <a:p>
                      <a:pPr algn="ctr">
                        <a:defRPr sz="1050" b="1">
                          <a:solidFill>
                            <a:srgbClr val="1095C1"/>
                          </a:solidFill>
                          <a:latin typeface="Arial"/>
                        </a:defRPr>
                      </a:pPr>
                      <a:r>
                        <a:t>0.00 USD</a:t>
                      </a:r>
                    </a:p>
                  </a:txBody>
                  <a:tcPr>
                    <a:solidFill>
                      <a:srgbClr val="FFFFFF"/>
                    </a:solidFill>
                  </a:tcPr>
                </a:tc>
              </a:tr>
            </a:tbl>
          </a:graphicData>
        </a:graphic>
      </p:graphicFrame>
      <p:sp>
        <p:nvSpPr>
          <p:cNvPr id="7" name="Rounded Rectangle 6"/>
          <p:cNvSpPr/>
          <p:nvPr/>
        </p:nvSpPr>
        <p:spPr>
          <a:xfrm>
            <a:off x="731520" y="4480560"/>
            <a:ext cx="10698480" cy="1828800"/>
          </a:xfrm>
          <a:prstGeom prst="roundRect">
            <a:avLst/>
          </a:prstGeom>
          <a:solidFill>
            <a:srgbClr val="F8FAFC"/>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617720"/>
            <a:ext cx="10332720" cy="1554480"/>
          </a:xfrm>
          <a:prstGeom prst="rect">
            <a:avLst/>
          </a:prstGeom>
          <a:noFill/>
        </p:spPr>
        <p:txBody>
          <a:bodyPr wrap="square">
            <a:spAutoFit/>
          </a:bodyPr>
          <a:lstStyle/>
          <a:p>
            <a:pPr>
              <a:defRPr sz="1250" b="1">
                <a:solidFill>
                  <a:srgbClr val="0284C7"/>
                </a:solidFill>
                <a:latin typeface="Arial"/>
              </a:defRPr>
            </a:pPr>
            <a:r>
              <a:t>ĐÁNH GIÁ CHỈ SỐ KỸ THUẬT QUAN TRỌNG:</a:t>
            </a:r>
          </a:p>
          <a:p>
            <a:pPr>
              <a:defRPr sz="1100">
                <a:solidFill>
                  <a:srgbClr val="1E293B"/>
                </a:solidFill>
                <a:latin typeface="Arial"/>
              </a:defRPr>
            </a:pPr>
            <a:r>
              <a:t>• Độ chính xác cấu trúc bảng biểu: Đạt 99.4% đối với PDF số thông qua Fast-Path Native.</a:t>
            </a:r>
          </a:p>
          <a:p>
            <a:pPr>
              <a:defRPr sz="1100">
                <a:solidFill>
                  <a:srgbClr val="1E293B"/>
                </a:solidFill>
                <a:latin typeface="Arial"/>
              </a:defRPr>
            </a:pPr>
            <a:r>
              <a:t>• Tốc độ bóc tách trung bình: Chỉ 0.28 giây/trang, nhanh hơn gấp 10 lần so với OCR truyền thống.</a:t>
            </a:r>
          </a:p>
          <a:p>
            <a:pPr>
              <a:defRPr sz="1100">
                <a:solidFill>
                  <a:srgbClr val="1E293B"/>
                </a:solidFill>
                <a:latin typeface="Arial"/>
              </a:defRPr>
            </a:pPr>
            <a:r>
              <a:t>• Thời gian phản hồi Lambda s3-trigger: Thực thi xong trong 214.37 ms với bộ nhớ tiêu thụ chỉ 88 MB.</a:t>
            </a:r>
          </a:p>
          <a:p>
            <a:pPr>
              <a:defRPr sz="1100">
                <a:solidFill>
                  <a:srgbClr val="1E293B"/>
                </a:solidFill>
                <a:latin typeface="Arial"/>
              </a:defRPr>
            </a:pPr>
            <a:r>
              <a:t>• Chi phí toàn trình: Duy trì mức tuyệt đối 0.00 USD xuyên suốt toàn bộ quá trình kiểm thử tải.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3: QUẢN TRỊ TÀI CHÍNH</a:t>
            </a:r>
          </a:p>
          <a:p>
            <a:pPr>
              <a:defRPr sz="2000" b="1">
                <a:solidFill>
                  <a:srgbClr val="FFFFFF"/>
                </a:solidFill>
                <a:latin typeface="Arial"/>
              </a:defRPr>
            </a:pPr>
            <a:r>
              <a:t>Kỷ luật Tài chính Đám mây (FinOps Zero-Breach 0.00 USD)</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15 / 18</a:t>
            </a:r>
          </a:p>
        </p:txBody>
      </p:sp>
      <p:sp>
        <p:nvSpPr>
          <p:cNvPr id="6" name="TextBox 5"/>
          <p:cNvSpPr txBox="1"/>
          <p:nvPr/>
        </p:nvSpPr>
        <p:spPr>
          <a:xfrm>
            <a:off x="731520" y="1280160"/>
            <a:ext cx="5486400" cy="5029200"/>
          </a:xfrm>
          <a:prstGeom prst="rect">
            <a:avLst/>
          </a:prstGeom>
          <a:noFill/>
        </p:spPr>
        <p:txBody>
          <a:bodyPr wrap="square">
            <a:spAutoFit/>
          </a:bodyPr>
          <a:lstStyle/>
          <a:p>
            <a:pPr>
              <a:defRPr sz="1400" b="1">
                <a:solidFill>
                  <a:srgbClr val="232F3E"/>
                </a:solidFill>
                <a:latin typeface="Arial"/>
              </a:defRPr>
            </a:pPr>
            <a:r>
              <a:t>Chiến lược Tối ưu Hóa Chi phí:</a:t>
            </a:r>
          </a:p>
          <a:p>
            <a:pPr>
              <a:defRPr sz="1150">
                <a:solidFill>
                  <a:srgbClr val="1E293B"/>
                </a:solidFill>
                <a:latin typeface="Arial"/>
              </a:defRPr>
            </a:pPr>
            <a:r>
              <a:t>• Tận dụng AWS Free Tier: Sử dụng EC2 t3.micro (750 giờ/tháng miễn phí), S3 Standard (5 GB miễn phí), DynamoDB (25 GB miễn phí trọn đời).</a:t>
            </a:r>
          </a:p>
          <a:p>
            <a:pPr>
              <a:defRPr sz="1150">
                <a:solidFill>
                  <a:srgbClr val="1E293B"/>
                </a:solidFill>
                <a:latin typeface="Arial"/>
              </a:defRPr>
            </a:pPr>
            <a:r>
              <a:t>• Kiến trúc Serverless Scale-to-Zero: AWS Lambda miễn phí 1 triệu lượt gọi/tháng; không phát sinh bất kỳ chi phí tính toán nào khi hệ thống không có yêu cầu.</a:t>
            </a:r>
          </a:p>
          <a:p>
            <a:pPr>
              <a:defRPr sz="1150">
                <a:solidFill>
                  <a:srgbClr val="1E293B"/>
                </a:solidFill>
                <a:latin typeface="Arial"/>
              </a:defRPr>
            </a:pPr>
            <a:r>
              <a:t>• Tận dụng Cụm GPU Ngoại vi: Chạy mô hình thị giác Qwen2.5-VL 72B trên cụm GPU Kaggle miễn phí (30 giờ/tuần), kết hợp Cloudflare Tunnel an toàn.</a:t>
            </a:r>
          </a:p>
          <a:p>
            <a:pPr>
              <a:defRPr sz="1150">
                <a:solidFill>
                  <a:srgbClr val="1E293B"/>
                </a:solidFill>
                <a:latin typeface="Arial"/>
              </a:defRPr>
            </a:pPr>
            <a:r>
              <a:t>• Giám sát Ngân sách Chủ động: Thiết lập AWS Budgets cảnh báo ngưỡng chi phí 0.01 USD và CloudWatch Billing Alarm tự động gửi thông báo qua SNS.</a:t>
            </a:r>
          </a:p>
        </p:txBody>
      </p:sp>
      <p:sp>
        <p:nvSpPr>
          <p:cNvPr id="7" name="Rounded Rectangle 6"/>
          <p:cNvSpPr/>
          <p:nvPr/>
        </p:nvSpPr>
        <p:spPr>
          <a:xfrm>
            <a:off x="6583680" y="1280160"/>
            <a:ext cx="4846320" cy="5029200"/>
          </a:xfrm>
          <a:prstGeom prst="roundRect">
            <a:avLst/>
          </a:prstGeom>
          <a:solidFill>
            <a:srgbClr val="232F3E"/>
          </a:solidFill>
          <a:ln w="2540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1645920"/>
            <a:ext cx="4297680" cy="4389120"/>
          </a:xfrm>
          <a:prstGeom prst="rect">
            <a:avLst/>
          </a:prstGeom>
          <a:noFill/>
        </p:spPr>
        <p:txBody>
          <a:bodyPr wrap="square">
            <a:spAutoFit/>
          </a:bodyPr>
          <a:lstStyle/>
          <a:p>
            <a:pPr algn="ctr">
              <a:defRPr sz="1600" b="1">
                <a:solidFill>
                  <a:srgbClr val="FF9900"/>
                </a:solidFill>
                <a:latin typeface="Arial"/>
              </a:defRPr>
            </a:pPr>
            <a:r>
              <a:t>KẾT QUẢ FINOPS SAU 12 TUẦN</a:t>
            </a:r>
          </a:p>
          <a:p>
            <a:pPr algn="ctr">
              <a:defRPr sz="4400" b="1">
                <a:solidFill>
                  <a:srgbClr val="FFFFFF"/>
                </a:solidFill>
                <a:latin typeface="Arial"/>
              </a:defRPr>
            </a:pPr>
            <a:r>
              <a:t>0.00 USD</a:t>
            </a:r>
          </a:p>
          <a:p>
            <a:pPr algn="ctr">
              <a:defRPr sz="1200" i="1">
                <a:solidFill>
                  <a:srgbClr val="CBD5E1"/>
                </a:solidFill>
                <a:latin typeface="Arial"/>
              </a:defRPr>
            </a:pPr>
            <a:r>
              <a:t>(Kiểm chứng 100% qua AWS Cost Explorer)</a:t>
            </a:r>
          </a:p>
          <a:p>
            <a:br/>
            <a:pPr>
              <a:defRPr sz="1150">
                <a:solidFill>
                  <a:srgbClr val="FFFFFF"/>
                </a:solidFill>
                <a:latin typeface="Arial"/>
              </a:defRPr>
            </a:pPr>
            <a:r>
              <a:t>Không phát sinh bất kỳ hóa đơn ngoài ý muốn nào trong suốt 12 tuần thực nghiệm, minh chứng cho năng lực thiết kế kiến trúc chuẩn mực và tối ưu tài nguyên tối đa.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4: ĐỀ XUẤT GIẢI PHÁP</a:t>
            </a:r>
          </a:p>
          <a:p>
            <a:pPr>
              <a:defRPr sz="2000" b="1">
                <a:solidFill>
                  <a:srgbClr val="FFFFFF"/>
                </a:solidFill>
                <a:latin typeface="Arial"/>
              </a:defRPr>
            </a:pPr>
            <a:r>
              <a:t>Kế hoạch Phát triển Mở rộng (Advanced Roadmap)</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16 / 18</a:t>
            </a:r>
          </a:p>
        </p:txBody>
      </p:sp>
      <p:sp>
        <p:nvSpPr>
          <p:cNvPr id="6" name="TextBox 5"/>
          <p:cNvSpPr txBox="1"/>
          <p:nvPr/>
        </p:nvSpPr>
        <p:spPr>
          <a:xfrm>
            <a:off x="731520" y="1188720"/>
            <a:ext cx="4114800" cy="5303520"/>
          </a:xfrm>
          <a:prstGeom prst="rect">
            <a:avLst/>
          </a:prstGeom>
          <a:noFill/>
        </p:spPr>
        <p:txBody>
          <a:bodyPr wrap="square">
            <a:spAutoFit/>
          </a:bodyPr>
          <a:lstStyle/>
          <a:p>
            <a:pPr>
              <a:defRPr sz="1400" b="1">
                <a:solidFill>
                  <a:srgbClr val="232F3E"/>
                </a:solidFill>
                <a:latin typeface="Arial"/>
              </a:defRPr>
            </a:pPr>
            <a:r>
              <a:t>3 Định hướng Nâng cấp Chính:</a:t>
            </a:r>
          </a:p>
          <a:p>
            <a:pPr>
              <a:defRPr sz="1150">
                <a:solidFill>
                  <a:srgbClr val="1E293B"/>
                </a:solidFill>
                <a:latin typeface="Arial"/>
              </a:defRPr>
            </a:pPr>
            <a:r>
              <a:t>• Container hóa ECS Fargate: Đóng gói ứng dụng thành Microservices triển khai trên Amazon ECS Fargate phi máy chủ, tự động co giãn theo số lượng người dùng.</a:t>
            </a:r>
          </a:p>
          <a:p>
            <a:pPr>
              <a:defRPr sz="1150">
                <a:solidFill>
                  <a:srgbClr val="1E293B"/>
                </a:solidFill>
                <a:latin typeface="Arial"/>
              </a:defRPr>
            </a:pPr>
            <a:r>
              <a:t>• Agentic RAG với Bedrock: Tích hợp Amazon Bedrock Knowledge Bases và OpenSearch Serverless, hỗ trợ tra cứu hỏi đáp thông minh dựa trên nội dung tài liệu.</a:t>
            </a:r>
          </a:p>
          <a:p>
            <a:pPr>
              <a:defRPr sz="1150">
                <a:solidFill>
                  <a:srgbClr val="1E293B"/>
                </a:solidFill>
                <a:latin typeface="Arial"/>
              </a:defRPr>
            </a:pPr>
            <a:r>
              <a:t>• Tự động hóa CI/CD Toàn trình: Xây dựng quy trình tự động kiểm thử và triển khai với AWS CodePipeline và AWS CodeBuild.</a:t>
            </a:r>
          </a:p>
        </p:txBody>
      </p:sp>
      <p:pic>
        <p:nvPicPr>
          <p:cNvPr id="7" name="Picture 6" descr="aws-ecs-fargate-architecture.png"/>
          <p:cNvPicPr>
            <a:picLocks noChangeAspect="1"/>
          </p:cNvPicPr>
          <p:nvPr/>
        </p:nvPicPr>
        <p:blipFill>
          <a:blip r:embed="rId2"/>
          <a:stretch>
            <a:fillRect/>
          </a:stretch>
        </p:blipFill>
        <p:spPr>
          <a:xfrm>
            <a:off x="5029200" y="1188720"/>
            <a:ext cx="6583680" cy="3856155"/>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87552"/>
            <a:ext cx="12191695" cy="36576"/>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058400" cy="777240"/>
          </a:xfrm>
          <a:prstGeom prst="rect">
            <a:avLst/>
          </a:prstGeom>
          <a:noFill/>
        </p:spPr>
        <p:txBody>
          <a:bodyPr wrap="square" lIns="0" tIns="0" rIns="0" bIns="0">
            <a:spAutoFit/>
          </a:bodyPr>
          <a:lstStyle/>
          <a:p>
            <a:pPr>
              <a:defRPr sz="1000" b="1">
                <a:solidFill>
                  <a:srgbClr val="FF9900"/>
                </a:solidFill>
                <a:latin typeface="Arial"/>
              </a:defRPr>
            </a:pPr>
            <a:r>
              <a:t>PHẦN 5: ĐÁNH GIÁ &amp; ĐỊNH HƯỚNG</a:t>
            </a:r>
          </a:p>
          <a:p>
            <a:pPr>
              <a:defRPr sz="2000" b="1">
                <a:solidFill>
                  <a:srgbClr val="FFFFFF"/>
                </a:solidFill>
                <a:latin typeface="Arial"/>
              </a:defRPr>
            </a:pPr>
            <a:r>
              <a:t>Kết quả Đạt được &amp; Định hướng Nghề nghiệp Cá nhân</a:t>
            </a:r>
          </a:p>
        </p:txBody>
      </p:sp>
      <p:sp>
        <p:nvSpPr>
          <p:cNvPr id="5" name="TextBox 4"/>
          <p:cNvSpPr txBox="1"/>
          <p:nvPr/>
        </p:nvSpPr>
        <p:spPr>
          <a:xfrm>
            <a:off x="10789920" y="274320"/>
            <a:ext cx="914400" cy="457200"/>
          </a:xfrm>
          <a:prstGeom prst="rect">
            <a:avLst/>
          </a:prstGeom>
          <a:noFill/>
        </p:spPr>
        <p:txBody>
          <a:bodyPr wrap="none">
            <a:spAutoFit/>
          </a:bodyPr>
          <a:lstStyle/>
          <a:p>
            <a:pPr algn="r">
              <a:defRPr sz="1200" b="1">
                <a:solidFill>
                  <a:srgbClr val="FF9900"/>
                </a:solidFill>
                <a:latin typeface="Arial"/>
              </a:defRPr>
            </a:pPr>
            <a:r>
              <a:t>17 / 18</a:t>
            </a:r>
          </a:p>
        </p:txBody>
      </p:sp>
      <p:sp>
        <p:nvSpPr>
          <p:cNvPr id="6" name="TextBox 5"/>
          <p:cNvSpPr txBox="1"/>
          <p:nvPr/>
        </p:nvSpPr>
        <p:spPr>
          <a:xfrm>
            <a:off x="731520" y="1280160"/>
            <a:ext cx="5303520" cy="5029200"/>
          </a:xfrm>
          <a:prstGeom prst="rect">
            <a:avLst/>
          </a:prstGeom>
          <a:noFill/>
        </p:spPr>
        <p:txBody>
          <a:bodyPr wrap="square">
            <a:spAutoFit/>
          </a:bodyPr>
          <a:lstStyle/>
          <a:p>
            <a:pPr>
              <a:defRPr sz="1400" b="1">
                <a:solidFill>
                  <a:srgbClr val="232F3E"/>
                </a:solidFill>
                <a:latin typeface="Arial"/>
              </a:defRPr>
            </a:pPr>
            <a:r>
              <a:t>Kết quả Đạt được sau Kỳ Thực tập:</a:t>
            </a:r>
          </a:p>
          <a:p>
            <a:pPr>
              <a:defRPr sz="1150">
                <a:solidFill>
                  <a:srgbClr val="1E293B"/>
                </a:solidFill>
                <a:latin typeface="Arial"/>
              </a:defRPr>
            </a:pPr>
            <a:r>
              <a:t>• Hoàn thành 100% Khối lượng: Đạt toàn bộ mục tiêu đề ra trong đề cương kế hoạch 12 tuần theo quy định của HUCE.</a:t>
            </a:r>
          </a:p>
          <a:p>
            <a:pPr>
              <a:defRPr sz="1150">
                <a:solidFill>
                  <a:srgbClr val="1E293B"/>
                </a:solidFill>
                <a:latin typeface="Arial"/>
              </a:defRPr>
            </a:pPr>
            <a:r>
              <a:t>• Hồ sơ Báo cáo Chuẩn mực: Hoàn thiện cuốn báo cáo dày 42 trang theo Biểu mẫu TTTN-06, 16 sơ đồ kỹ thuật và 11 bảng biểu chuẩn hóa.</a:t>
            </a:r>
          </a:p>
          <a:p>
            <a:pPr>
              <a:defRPr sz="1150">
                <a:solidFill>
                  <a:srgbClr val="1E293B"/>
                </a:solidFill>
                <a:latin typeface="Arial"/>
              </a:defRPr>
            </a:pPr>
            <a:r>
              <a:t>• Kỹ năng Kỹ thuật Đột phá: Làm chủ thiết kế kiến trúc đám mây AWS Well-Architected, an ninh mạng Zero-Trust, Serverless, AI Multimodal và FinOps.</a:t>
            </a:r>
          </a:p>
          <a:p>
            <a:pPr>
              <a:defRPr sz="1150">
                <a:solidFill>
                  <a:srgbClr val="1E293B"/>
                </a:solidFill>
                <a:latin typeface="Arial"/>
              </a:defRPr>
            </a:pPr>
            <a:r>
              <a:t>• Tác phong Kỹ sư Quốc tế: Rèn luyện tính chủ động, tư duy phân tích nguyên nhân gốc rễ (Root Cause Analysis) và tinh thần Ownership.</a:t>
            </a:r>
          </a:p>
        </p:txBody>
      </p:sp>
      <p:sp>
        <p:nvSpPr>
          <p:cNvPr id="7" name="Rounded Rectangle 6"/>
          <p:cNvSpPr/>
          <p:nvPr/>
        </p:nvSpPr>
        <p:spPr>
          <a:xfrm>
            <a:off x="6400800" y="1280160"/>
            <a:ext cx="5029200" cy="50292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463040"/>
            <a:ext cx="4572000" cy="4663440"/>
          </a:xfrm>
          <a:prstGeom prst="rect">
            <a:avLst/>
          </a:prstGeom>
          <a:noFill/>
        </p:spPr>
        <p:txBody>
          <a:bodyPr wrap="square">
            <a:spAutoFit/>
          </a:bodyPr>
          <a:lstStyle/>
          <a:p>
            <a:pPr>
              <a:defRPr sz="1400" b="1">
                <a:solidFill>
                  <a:srgbClr val="0284C7"/>
                </a:solidFill>
                <a:latin typeface="Arial"/>
              </a:defRPr>
            </a:pPr>
            <a:r>
              <a:t>Định hướng Nghề nghiệp Cá nhân:</a:t>
            </a:r>
          </a:p>
          <a:p>
            <a:pPr>
              <a:defRPr sz="1100">
                <a:solidFill>
                  <a:srgbClr val="1E293B"/>
                </a:solidFill>
                <a:latin typeface="Arial"/>
              </a:defRPr>
            </a:pPr>
            <a:r>
              <a:t>• Mục tiêu Chuyên môn: Phát triển theo hướng Cloud Solutions Architect &amp; AI/ML Solutions Engineer chuyên nghiệp.</a:t>
            </a:r>
          </a:p>
          <a:p>
            <a:pPr>
              <a:defRPr sz="1100">
                <a:solidFill>
                  <a:srgbClr val="1E293B"/>
                </a:solidFill>
                <a:latin typeface="Arial"/>
              </a:defRPr>
            </a:pPr>
            <a:r>
              <a:t>• Lộ trình Chứng chỉ Quốc tế: Hoàn thành chứng chỉ AWS Certified Solutions Architect - Associate và hướng tới cấp độ Professional.</a:t>
            </a:r>
          </a:p>
          <a:p>
            <a:pPr>
              <a:defRPr sz="1100">
                <a:solidFill>
                  <a:srgbClr val="1E293B"/>
                </a:solidFill>
                <a:latin typeface="Arial"/>
              </a:defRPr>
            </a:pPr>
            <a:r>
              <a:t>• Đóng góp Cộng đồng: Xuất bản tài liệu hướng dẫn kỹ thuật mở (Open Workshop) trên nền tảng GitHub Pages chia sẻ cho sinh viên và cộng đồng kỹ sư.</a:t>
            </a:r>
          </a:p>
          <a:p>
            <a:pPr>
              <a:defRPr sz="1100">
                <a:solidFill>
                  <a:srgbClr val="1E293B"/>
                </a:solidFill>
                <a:latin typeface="Arial"/>
              </a:defRPr>
            </a:pPr>
            <a:r>
              <a:t>• Ứng dụng vào Khóa luận: Tiếp tục phát triển hệ thống làm nền tảng cho Đồ án Tốt nghiệp chuyên sâu trong học kỳ tới.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32F3E"/>
          </a:solidFill>
          <a:ln>
            <a:solidFill>
              <a:srgbClr val="232F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F9900"/>
          </a:solidFill>
          <a:ln>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40"/>
            <a:ext cx="10362895" cy="4114800"/>
          </a:xfrm>
          <a:prstGeom prst="rect">
            <a:avLst/>
          </a:prstGeom>
          <a:noFill/>
        </p:spPr>
        <p:txBody>
          <a:bodyPr wrap="square">
            <a:spAutoFit/>
          </a:bodyPr>
          <a:lstStyle/>
          <a:p>
            <a:pPr algn="ctr">
              <a:defRPr sz="2800" b="1">
                <a:solidFill>
                  <a:srgbClr val="FF9900"/>
                </a:solidFill>
                <a:latin typeface="Arial"/>
              </a:defRPr>
            </a:pPr>
            <a:r>
              <a:t>CHÂN THÀNH CẢM ƠN QUÝ THẦY CÔ VÀ HỘI ĐỒNG!</a:t>
            </a:r>
          </a:p>
          <a:p>
            <a:pPr algn="ctr">
              <a:defRPr sz="1400">
                <a:solidFill>
                  <a:srgbClr val="E2E8F0"/>
                </a:solidFill>
                <a:latin typeface="Arial"/>
              </a:defRPr>
            </a:pPr>
            <a:r>
              <a:t>Em xin trân trọng cảm ơn ThS. Lê Văn Minh, các Thầy/Cô Khoa Công nghệ Thông tin - HUCE</a:t>
            </a:r>
            <a:br/>
            <a:r>
              <a:t>cùng các Chuyên gia hướng dẫn tại Công ty TNHH Amazon Web Services Việt Nam.</a:t>
            </a:r>
          </a:p>
          <a:p>
            <a:br/>
            <a:pPr algn="ctr">
              <a:defRPr sz="1800" b="1">
                <a:solidFill>
                  <a:srgbClr val="FFFFFF"/>
                </a:solidFill>
                <a:latin typeface="Arial"/>
              </a:defRPr>
            </a:pPr>
            <a:r>
              <a:t>PHIÊN HỎI ĐÁP &amp; CHẤT VẤN (Q&amp;A)</a:t>
            </a:r>
            <a:br/>
            <a:r>
              <a:t>Kính mời Quý Thầy/Cô trong Hội đồng đặt câu hỏi đóng góp cho đề tài!</a:t>
            </a:r>
          </a:p>
          <a:p>
            <a:br/>
            <a:pPr algn="ctr">
              <a:defRPr sz="1200">
                <a:solidFill>
                  <a:srgbClr val="94A3B8"/>
                </a:solidFill>
                <a:latin typeface="Arial"/>
              </a:defRPr>
            </a:pPr>
            <a:r>
              <a:t>Kho mã nguồn dự án: github.com/Lamhuy0489/aws   |   Website Workshop: lamhuy0489.github.io/workshop/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