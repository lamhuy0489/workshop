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trong Hội đồng chấm thi, em xin phép được trình bày Báo cáo thực tập tốt nghiệp với đề tài: Xây dựng nền tảng phi máy chủ bóc tách và dịch thuật tài liệu kỹ thuật Hybrid trên đám mây AWS. Đề tài được hoàn thành trong kỳ thực tập tại Công ty TNHH Amazon Web Services Việt Nam dưới sự hướng dẫn của ThS. Lê Văn Minh và cán bộ hướng dẫn tại AWS là anh Nguyễn Gia Hưng.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AWS Việt Nam, chương trình First Cloud AI Journey kéo dài 12 tuần đặt mục tiêu giúp sinh viên cọ xát với văn hóa chuẩn mực toàn cầu của Amazon, đồng thời trực tiếp triển khai dự án Capstone với tiêu chuẩn kỹ thuật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tiếp cận bài toán xử lý tài liệu kỹ thuật, chúng ta gặp 3 rào cản lớn: vỡ cấu trúc bảng biểu, chi phí gọi mô hình AI quá cao và nghẽn băng thông do giới hạn 10MB của API Gateway. Dự án giải quyết triệt để cả 3 bài toán này.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được thiết kế theo 5 phân tầng chuẩn mực Enterprise. Người dùng truy cập qua Application Load Balancer tới Web Studio. Tài liệu được tải trực tiếp lên S3 qua Presigned URL, kích hoạt luồng xử lý phi máy chủ Lambda và động cơ bóc tách kép.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Use Case thể hiện rõ 13 ca sử dụng cốt lõi được phân bổ logic cho 4 tác nhân. Đường liên kết được bố trí gọn gàng, thể hiện tính độc lập giữa luồng tương tác người dùng và luồng xử lý sự kiện phi máy chủ ở backend.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kiến trúc tổng thể trên AWS tuân thủ nghiêm ngặt khung Well-Architected Framework, bảo đảm đầy đủ các trụ cột về độ tin cậy, an ninh bảo mật và tối ưu chi phí.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mạng VPC Three-Tier Multi-AZ giúp cô lập máy chủ EC2 trong phân vùng mạng riêng (Private Subnet), hoàn toàn không gán IP công cộng. Chỉ có Application Load Balancer nằm ở Public Subnet mới tiếp nhận lưu lượng Internet.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chế Security Group Chaining loại bỏ hoàn toàn khả năng máy chủ EC2 bị tấn công trực tiếp từ bên ngoài. Thêm vào đó, việc loại bỏ cổng SSH 22 và thay thế bằng AWS Systems Manager đảm bảo quản trị an toàn tuyệt đối mà không cần quản lý private keys.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đóng góp kỹ thuật trọng tâm của đề tài. Nhờ thuật toán nhận diện mật độ ký tự số, hệ thống giải phóng 85% tài liệu số qua tầng Fast-Path native chỉ mất 0.28 giây/trang với chi phí 0 đồng, chỉ chuyển các trang scan thực sự sang tầng Vision OCR.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Bằng việc ứng dụng cơ chế S3 Presigned URL, hệ thống hoàn toàn vượt qua rào cản 10MB của API Gateway, cho phép người dùng kéo thả tài liệu dung lượng lớn lên tới 100MB một cách mượt mà và an toàn.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kết hợp mô hình lưu trữ đa công nghệ Polyglot Persistence: DynamoDB lưu vết trạng thái công việc phi máy chủ, S3 lưu trữ đối tượng dung lượng lớn và Relational SQL quản lý tài khoản, phân quyền và xoay vòng API keys.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tuần tự minh họa chi tiết chu trình 11 bước xử lý. Bất đồng bộ hóa qua sự kiện S3 giúp ứng dụng phản hồi mượt mà mà không làm treo trình duyệt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dịch thuật được trang bị cơ chế Key Tour Manager giúp xoay vòng các API key miễn phí, tự động lùi thời gian khi chạm hạn ngạch, đảm bảo ứng dụng luôn sẵn sàng phục vụ mà không bị gián đoạn.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xuất bản của hệ thống tạo ra 3 định dạng hoàn chỉnh. Đặc biệt bản Word tuân thủ phong cách học thuật đơn sắc và bản PDF được nén xuống 5.11 MB, sẵn sàng nộp lưu chiểu và in ấn mà không vượt ngưỡng 10MB.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màn hình là giao diện Web Studio thực tế đang chạy trên hạ tầng AWS. Người dùng có thể kéo thả tài liệu, xem tiến trình bóc tách và đối chiếu bản gốc - bản dịch song song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đo kiểm thực nghiệm cho thấy Fast-Path bóc tách 11 trang tài liệu chỉ mất 3.07 giây (0.28 giây/trang), nhanh gấp 10 lần các giải pháp OCR truyền thống, trong khi vẫn bảo toàn tuyệt đối 99.4% cấu trúc bảng biểu.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Kỷ luật FinOps là một trong những điểm sáng nhất của đề tài. Sau 12 tuần liên tục phát triển và kiểm thử toàn diện trên AWS, hóa đơn thực tế được kiểm chứng qua AWS Cost Explorer là đúng 0.00 USD.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giai đoạn phát triển tiếp theo, hệ thống sẵn sàng được container hóa và chuyển dịch lên Amazon ECS Fargate để tự động co giãn không giới hạn, đồng thời kết hợp Agentic RAG với Amazon Bedrock Knowledge Bases.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Kỳ thực tập không chỉ giúp em hoàn thành xuất sắc đồ án báo cáo tốt nghiệp mà còn định hình rõ nét con đường sự nghiệp tương lai hướng tới vị trí Kỹ sư Kiến trúc Đám mây và AI chuyên nghiệp.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chân thành cảm ơn Quý Thầy/Cô đã chú ý lắng nghe bài trình bày. Em rất mong nhận được những câu hỏi và ý kiến đóng góp quý báu từ Hội đồng để đề tài được hoàn thiện tốt hơn nữa!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9601200" cy="731520"/>
          </a:xfrm>
          <a:prstGeom prst="rect">
            <a:avLst/>
          </a:prstGeom>
          <a:noFill/>
        </p:spPr>
        <p:txBody>
          <a:bodyPr wrap="none">
            <a:spAutoFit/>
          </a:bodyPr>
          <a:lstStyle/>
          <a:p>
            <a:pPr>
              <a:defRPr sz="1200" b="1">
                <a:solidFill>
                  <a:srgbClr val="D97706"/>
                </a:solidFill>
                <a:latin typeface="Arial"/>
              </a:defRPr>
            </a:pPr>
            <a:r>
              <a:t>TRƯỜNG ĐẠI HỌC XÂY DỰNG HÀ NỘI (HUCE) — KHOA CÔNG NGHỆ THÔNG TIN</a:t>
            </a:r>
          </a:p>
          <a:p>
            <a:pPr>
              <a:defRPr sz="1100">
                <a:solidFill>
                  <a:srgbClr val="64748B"/>
                </a:solidFill>
                <a:latin typeface="Arial"/>
              </a:defRPr>
            </a:pPr>
            <a:r>
              <a:t>HỘI ĐỒNG ĐÁNH GIÁ BÁO CÁO THỰC TẬP TỐT NGHIỆP — BIỂU MẪU TTTN-06</a:t>
            </a:r>
          </a:p>
        </p:txBody>
      </p:sp>
      <p:pic>
        <p:nvPicPr>
          <p:cNvPr id="5" name="Picture 4" descr="logo_huce.png"/>
          <p:cNvPicPr>
            <a:picLocks noChangeAspect="1"/>
          </p:cNvPicPr>
          <p:nvPr/>
        </p:nvPicPr>
        <p:blipFill>
          <a:blip r:embed="rId2"/>
          <a:stretch>
            <a:fillRect/>
          </a:stretch>
        </p:blipFill>
        <p:spPr>
          <a:xfrm>
            <a:off x="10515600" y="411480"/>
            <a:ext cx="960120" cy="947487"/>
          </a:xfrm>
          <a:prstGeom prst="rect">
            <a:avLst/>
          </a:prstGeom>
        </p:spPr>
      </p:pic>
      <p:sp>
        <p:nvSpPr>
          <p:cNvPr id="6" name="TextBox 5"/>
          <p:cNvSpPr txBox="1"/>
          <p:nvPr/>
        </p:nvSpPr>
        <p:spPr>
          <a:xfrm>
            <a:off x="731520" y="1371600"/>
            <a:ext cx="10728655" cy="2011680"/>
          </a:xfrm>
          <a:prstGeom prst="rect">
            <a:avLst/>
          </a:prstGeom>
          <a:noFill/>
        </p:spPr>
        <p:txBody>
          <a:bodyPr wrap="square">
            <a:spAutoFit/>
          </a:bodyPr>
          <a:lstStyle/>
          <a:p>
            <a:pPr>
              <a:defRPr sz="2800" b="1">
                <a:solidFill>
                  <a:srgbClr val="0F172A"/>
                </a:solidFill>
                <a:latin typeface="Arial"/>
              </a:defRPr>
            </a:pPr>
            <a:r>
              <a:t>NỀN TẢNG PHI MÁY CHỦ BÓC TÁCH VÀ DỊCH THUẬT</a:t>
            </a:r>
            <a:br/>
            <a:r>
              <a:t>TÀI LIỆU KỸ THUẬT HYBRID TRÊN ĐÁM MÂY AWS</a:t>
            </a:r>
          </a:p>
          <a:p>
            <a:pPr>
              <a:defRPr sz="1500" i="1">
                <a:solidFill>
                  <a:srgbClr val="0284C7"/>
                </a:solidFill>
                <a:latin typeface="Arial"/>
              </a:defRPr>
            </a:pPr>
            <a:r>
              <a:t>Serverless Hybrid Document OCR, Parsing &amp; Technical Translation Platform on AWS</a:t>
            </a:r>
          </a:p>
        </p:txBody>
      </p:sp>
      <p:sp>
        <p:nvSpPr>
          <p:cNvPr id="7" name="Rectangle 6"/>
          <p:cNvSpPr/>
          <p:nvPr/>
        </p:nvSpPr>
        <p:spPr>
          <a:xfrm>
            <a:off x="731520" y="3657600"/>
            <a:ext cx="3413455" cy="25603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657600"/>
            <a:ext cx="3413455" cy="54864"/>
          </a:xfrm>
          <a:prstGeom prst="rect">
            <a:avLst/>
          </a:prstGeom>
          <a:solidFill>
            <a:srgbClr val="FF9900"/>
          </a:solid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794760"/>
            <a:ext cx="3093415" cy="2286000"/>
          </a:xfrm>
          <a:prstGeom prst="rect">
            <a:avLst/>
          </a:prstGeom>
          <a:noFill/>
        </p:spPr>
        <p:txBody>
          <a:bodyPr wrap="square">
            <a:spAutoFit/>
          </a:bodyPr>
          <a:lstStyle/>
          <a:p>
            <a:pPr>
              <a:defRPr sz="1100" b="1">
                <a:solidFill>
                  <a:srgbClr val="D97706"/>
                </a:solidFill>
                <a:latin typeface="Arial"/>
              </a:defRPr>
            </a:pPr>
            <a:r>
              <a:t>SINH VIÊN THỰC HIỆN</a:t>
            </a:r>
          </a:p>
          <a:p>
            <a:pPr>
              <a:defRPr sz="1600" b="1">
                <a:solidFill>
                  <a:srgbClr val="0F172A"/>
                </a:solidFill>
                <a:latin typeface="Arial"/>
              </a:defRPr>
            </a:pPr>
            <a:r>
              <a:t>LÂM QUANG HUY</a:t>
            </a:r>
          </a:p>
          <a:p>
            <a:pPr>
              <a:defRPr sz="1050">
                <a:solidFill>
                  <a:srgbClr val="1E293B"/>
                </a:solidFill>
                <a:latin typeface="Arial"/>
              </a:defRPr>
            </a:pPr>
            <a:r>
              <a:t>Mã số sinh viên: 0212267</a:t>
            </a:r>
          </a:p>
          <a:p>
            <a:pPr>
              <a:defRPr sz="1050">
                <a:solidFill>
                  <a:srgbClr val="1E293B"/>
                </a:solidFill>
                <a:latin typeface="Arial"/>
              </a:defRPr>
            </a:pPr>
            <a:r>
              <a:t>Lớp: 67CS (Khoa học Máy tính)</a:t>
            </a:r>
          </a:p>
          <a:p>
            <a:pPr>
              <a:defRPr sz="1050">
                <a:solidFill>
                  <a:srgbClr val="1E293B"/>
                </a:solidFill>
                <a:latin typeface="Arial"/>
              </a:defRPr>
            </a:pPr>
            <a:r>
              <a:t>Khoa: Công nghệ Thông tin</a:t>
            </a:r>
          </a:p>
          <a:p>
            <a:pPr>
              <a:defRPr sz="1050">
                <a:solidFill>
                  <a:srgbClr val="1E293B"/>
                </a:solidFill>
                <a:latin typeface="Arial"/>
              </a:defRPr>
            </a:pPr>
            <a:r>
              <a:t>Trường: ĐH Xây dựng Hà Nội</a:t>
            </a:r>
          </a:p>
        </p:txBody>
      </p:sp>
      <p:sp>
        <p:nvSpPr>
          <p:cNvPr id="10" name="Rectangle 9"/>
          <p:cNvSpPr/>
          <p:nvPr/>
        </p:nvSpPr>
        <p:spPr>
          <a:xfrm>
            <a:off x="4389120" y="3657600"/>
            <a:ext cx="3413455" cy="25603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3657600"/>
            <a:ext cx="34134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3794760"/>
            <a:ext cx="3093415" cy="2286000"/>
          </a:xfrm>
          <a:prstGeom prst="rect">
            <a:avLst/>
          </a:prstGeom>
          <a:noFill/>
        </p:spPr>
        <p:txBody>
          <a:bodyPr wrap="square">
            <a:spAutoFit/>
          </a:bodyPr>
          <a:lstStyle/>
          <a:p>
            <a:pPr>
              <a:defRPr sz="1100" b="1">
                <a:solidFill>
                  <a:srgbClr val="0284C7"/>
                </a:solidFill>
                <a:latin typeface="Arial"/>
              </a:defRPr>
            </a:pPr>
            <a:r>
              <a:t>HƯỚNG DẪN KHOA HỌC</a:t>
            </a:r>
          </a:p>
          <a:p>
            <a:pPr>
              <a:defRPr sz="1400" b="1">
                <a:solidFill>
                  <a:srgbClr val="0F172A"/>
                </a:solidFill>
                <a:latin typeface="Arial"/>
              </a:defRPr>
            </a:pPr>
            <a:r>
              <a:t>ThS. LÊ VĂN MINH</a:t>
            </a:r>
          </a:p>
          <a:p>
            <a:pPr>
              <a:defRPr sz="1050">
                <a:solidFill>
                  <a:srgbClr val="64748B"/>
                </a:solidFill>
                <a:latin typeface="Arial"/>
              </a:defRPr>
            </a:pPr>
            <a:r>
              <a:t>Giảng viên Khoa CNTT — HUCE</a:t>
            </a:r>
          </a:p>
          <a:p>
            <a:br/>
            <a:pPr>
              <a:defRPr sz="1100" b="1">
                <a:solidFill>
                  <a:srgbClr val="0F172A"/>
                </a:solidFill>
                <a:latin typeface="Arial"/>
              </a:defRPr>
            </a:pPr>
            <a:r>
              <a:t>Cán bộ ĐVHD: Nguyễn Gia Hưng</a:t>
            </a:r>
          </a:p>
          <a:p>
            <a:pPr>
              <a:defRPr sz="1050">
                <a:solidFill>
                  <a:srgbClr val="64748B"/>
                </a:solidFill>
                <a:latin typeface="Arial"/>
              </a:defRPr>
            </a:pPr>
            <a:r>
              <a:t>hunggia@amazon.com.vn (AWS)</a:t>
            </a:r>
          </a:p>
        </p:txBody>
      </p:sp>
      <p:sp>
        <p:nvSpPr>
          <p:cNvPr id="13" name="Rectangle 12"/>
          <p:cNvSpPr/>
          <p:nvPr/>
        </p:nvSpPr>
        <p:spPr>
          <a:xfrm>
            <a:off x="8046720" y="3657600"/>
            <a:ext cx="3413455" cy="25603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3657600"/>
            <a:ext cx="3413455"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3794760"/>
            <a:ext cx="3093415" cy="2286000"/>
          </a:xfrm>
          <a:prstGeom prst="rect">
            <a:avLst/>
          </a:prstGeom>
          <a:noFill/>
        </p:spPr>
        <p:txBody>
          <a:bodyPr wrap="square">
            <a:spAutoFit/>
          </a:bodyPr>
          <a:lstStyle/>
          <a:p>
            <a:pPr>
              <a:defRPr sz="1100" b="1">
                <a:solidFill>
                  <a:srgbClr val="232F3E"/>
                </a:solidFill>
                <a:latin typeface="Arial"/>
              </a:defRPr>
            </a:pPr>
            <a:r>
              <a:t>ĐƠN VỊ THỰC TẬP</a:t>
            </a:r>
          </a:p>
          <a:p>
            <a:pPr>
              <a:defRPr sz="1400" b="1">
                <a:solidFill>
                  <a:srgbClr val="0F172A"/>
                </a:solidFill>
                <a:latin typeface="Arial"/>
              </a:defRPr>
            </a:pPr>
            <a:r>
              <a:t>AWS VIỆT NAM</a:t>
            </a:r>
          </a:p>
          <a:p>
            <a:pPr>
              <a:defRPr sz="1050">
                <a:solidFill>
                  <a:srgbClr val="1E293B"/>
                </a:solidFill>
                <a:latin typeface="Arial"/>
              </a:defRPr>
            </a:pPr>
            <a:r>
              <a:t>Chương trình: FCAJ Bootcamp 2026</a:t>
            </a:r>
          </a:p>
          <a:p>
            <a:pPr>
              <a:defRPr sz="1050">
                <a:solidFill>
                  <a:srgbClr val="1E293B"/>
                </a:solidFill>
                <a:latin typeface="Arial"/>
              </a:defRPr>
            </a:pPr>
            <a:r>
              <a:t>First Cloud AI Journey (12 tuần)</a:t>
            </a:r>
          </a:p>
          <a:p>
            <a:pPr>
              <a:defRPr sz="1050">
                <a:solidFill>
                  <a:srgbClr val="1E293B"/>
                </a:solidFill>
                <a:latin typeface="Arial"/>
              </a:defRPr>
            </a:pPr>
            <a:r>
              <a:t>Thời gian: 03/08 — 25/10/2026</a:t>
            </a:r>
          </a:p>
          <a:p>
            <a:pPr>
              <a:defRPr sz="1050">
                <a:solidFill>
                  <a:srgbClr val="1E293B"/>
                </a:solidFill>
                <a:latin typeface="Arial"/>
              </a:defRPr>
            </a:pPr>
            <a:r>
              <a:t>Tiêu chuẩn: AWS Well-Architected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1: GIỚI THIỆU ĐƠN VỊ THỰC TẬP</a:t>
            </a:r>
          </a:p>
          <a:p>
            <a:pPr>
              <a:defRPr sz="2000" b="1">
                <a:solidFill>
                  <a:srgbClr val="0F172A"/>
                </a:solidFill>
                <a:latin typeface="Arial"/>
              </a:defRPr>
            </a:pPr>
            <a:r>
              <a:t>Công ty TNHH Amazon Web Services Việt Nam &amp; FCAJ Bootcamp</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02 / 20</a:t>
            </a:r>
          </a:p>
        </p:txBody>
      </p:sp>
      <p:sp>
        <p:nvSpPr>
          <p:cNvPr id="6" name="Rectangle 5"/>
          <p:cNvSpPr/>
          <p:nvPr/>
        </p:nvSpPr>
        <p:spPr>
          <a:xfrm>
            <a:off x="731520" y="1234440"/>
            <a:ext cx="5212080" cy="3520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521208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4892040" cy="3246120"/>
          </a:xfrm>
          <a:prstGeom prst="rect">
            <a:avLst/>
          </a:prstGeom>
          <a:noFill/>
        </p:spPr>
        <p:txBody>
          <a:bodyPr wrap="square">
            <a:spAutoFit/>
          </a:bodyPr>
          <a:lstStyle/>
          <a:p>
            <a:pPr>
              <a:defRPr sz="1300" b="1">
                <a:solidFill>
                  <a:srgbClr val="232F3E"/>
                </a:solidFill>
                <a:latin typeface="Arial"/>
              </a:defRPr>
            </a:pPr>
            <a:r>
              <a:t>TỔNG QUAN ĐƠN VỊ THỰC TẬP</a:t>
            </a:r>
          </a:p>
          <a:p>
            <a:pPr>
              <a:lnSpc>
                <a:spcPct val="115000"/>
              </a:lnSpc>
              <a:defRPr sz="1000">
                <a:solidFill>
                  <a:srgbClr val="1E293B"/>
                </a:solidFill>
                <a:latin typeface="Arial"/>
              </a:defRPr>
            </a:pPr>
            <a:r>
              <a:t>• Vị thế Tiên phong Toàn cầu: AWS là nền tảng điện toán đám mây số 1 thế giới với hơn 200 dịch vụ hoàn chỉnh trên các cụm Data Center toàn cầu.</a:t>
            </a:r>
          </a:p>
          <a:p>
            <a:pPr>
              <a:lnSpc>
                <a:spcPct val="115000"/>
              </a:lnSpc>
              <a:defRPr sz="1000">
                <a:solidFill>
                  <a:srgbClr val="1E293B"/>
                </a:solidFill>
                <a:latin typeface="Arial"/>
              </a:defRPr>
            </a:pPr>
            <a:r>
              <a:t>• Sứ mệnh tại Việt Nam: Đồng hành thúc đẩy Chuyển đổi số Quốc gia, đào tạo nguồn nhân lực Cloud chất lượng cao.</a:t>
            </a:r>
          </a:p>
          <a:p>
            <a:pPr>
              <a:lnSpc>
                <a:spcPct val="115000"/>
              </a:lnSpc>
              <a:defRPr sz="1000">
                <a:solidFill>
                  <a:srgbClr val="1E293B"/>
                </a:solidFill>
                <a:latin typeface="Arial"/>
              </a:defRPr>
            </a:pPr>
            <a:r>
              <a:t>• AWS FCAJ Bootcamp 2026: First Cloud AI Journey huấn luyện chuyên sâu về Cloud Architecture, Serverless, DevOps và Generative AI.</a:t>
            </a:r>
          </a:p>
        </p:txBody>
      </p:sp>
      <p:sp>
        <p:nvSpPr>
          <p:cNvPr id="9" name="Rectangle 8"/>
          <p:cNvSpPr/>
          <p:nvPr/>
        </p:nvSpPr>
        <p:spPr>
          <a:xfrm>
            <a:off x="731520" y="4937760"/>
            <a:ext cx="5212080" cy="146304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937760"/>
            <a:ext cx="521208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029200"/>
            <a:ext cx="4892040" cy="1280160"/>
          </a:xfrm>
          <a:prstGeom prst="rect">
            <a:avLst/>
          </a:prstGeom>
          <a:noFill/>
        </p:spPr>
        <p:txBody>
          <a:bodyPr wrap="square">
            <a:spAutoFit/>
          </a:bodyPr>
          <a:lstStyle/>
          <a:p>
            <a:pPr>
              <a:defRPr sz="1100" b="1">
                <a:solidFill>
                  <a:srgbClr val="D97706"/>
                </a:solidFill>
                <a:latin typeface="Arial"/>
              </a:defRPr>
            </a:pPr>
            <a:r>
              <a:t>VĂN HÓA DOANH NGHIỆP AMAZON</a:t>
            </a:r>
          </a:p>
          <a:p>
            <a:pPr>
              <a:defRPr sz="950">
                <a:solidFill>
                  <a:srgbClr val="1E293B"/>
                </a:solidFill>
                <a:latin typeface="Arial"/>
              </a:defRPr>
            </a:pPr>
            <a:r>
              <a:t>• 16 Leadership Principles: Customer Obsession, Ownership, Invent &amp; Simplify</a:t>
            </a:r>
            <a:br/>
            <a:r>
              <a:t>• Tác phong kỹ sư chuyên nghiệp, tư duy giải quyết vấn đề từ gốc rễ (Root Cause)</a:t>
            </a:r>
          </a:p>
        </p:txBody>
      </p:sp>
      <p:sp>
        <p:nvSpPr>
          <p:cNvPr id="12" name="Rectangle 11"/>
          <p:cNvSpPr/>
          <p:nvPr/>
        </p:nvSpPr>
        <p:spPr>
          <a:xfrm>
            <a:off x="6217920" y="1234440"/>
            <a:ext cx="5212080" cy="3520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234440"/>
            <a:ext cx="521208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371600"/>
            <a:ext cx="4892040" cy="3246120"/>
          </a:xfrm>
          <a:prstGeom prst="rect">
            <a:avLst/>
          </a:prstGeom>
          <a:noFill/>
        </p:spPr>
        <p:txBody>
          <a:bodyPr wrap="square">
            <a:spAutoFit/>
          </a:bodyPr>
          <a:lstStyle/>
          <a:p>
            <a:pPr>
              <a:defRPr sz="1300" b="1">
                <a:solidFill>
                  <a:srgbClr val="0284C7"/>
                </a:solidFill>
                <a:latin typeface="Arial"/>
              </a:defRPr>
            </a:pPr>
            <a:r>
              <a:t>MỤC TIÊU 12 TUẦN THỰC TẬP (03/08 — 25/10/2026)</a:t>
            </a:r>
          </a:p>
          <a:p>
            <a:pPr>
              <a:lnSpc>
                <a:spcPct val="115000"/>
              </a:lnSpc>
              <a:defRPr sz="1000">
                <a:solidFill>
                  <a:srgbClr val="1E293B"/>
                </a:solidFill>
                <a:latin typeface="Arial"/>
              </a:defRPr>
            </a:pPr>
            <a:r>
              <a:t>• Làm chủ Kiến trúc AWS Enterprise: Nắm vững Well-Architected Framework: Multi-AZ High Availability, Zero-Trust và Serverless.</a:t>
            </a:r>
          </a:p>
          <a:p>
            <a:pPr>
              <a:lnSpc>
                <a:spcPct val="115000"/>
              </a:lnSpc>
              <a:defRPr sz="1000">
                <a:solidFill>
                  <a:srgbClr val="1E293B"/>
                </a:solidFill>
                <a:latin typeface="Arial"/>
              </a:defRPr>
            </a:pPr>
            <a:r>
              <a:t>• Phát triển Đề tài Capstone Thực tế: Xây dựng nền tảng Hybrid OCR &amp; Translation giải quyết triệt để rào cản bóc tách bảng biểu kỹ thuật.</a:t>
            </a:r>
          </a:p>
          <a:p>
            <a:pPr>
              <a:lnSpc>
                <a:spcPct val="115000"/>
              </a:lnSpc>
              <a:defRPr sz="1000">
                <a:solidFill>
                  <a:srgbClr val="1E293B"/>
                </a:solidFill>
                <a:latin typeface="Arial"/>
              </a:defRPr>
            </a:pPr>
            <a:r>
              <a:t>• Kỷ luật Tài chính FinOps: Thiết lập giám sát thời gian thực, vận hành toàn bộ hệ thống với chi phí 0.00 USD trong suốt 12 tuần.</a:t>
            </a:r>
          </a:p>
        </p:txBody>
      </p:sp>
      <p:sp>
        <p:nvSpPr>
          <p:cNvPr id="15" name="Rectangle 14"/>
          <p:cNvSpPr/>
          <p:nvPr/>
        </p:nvSpPr>
        <p:spPr>
          <a:xfrm>
            <a:off x="6217920" y="4937760"/>
            <a:ext cx="5212080" cy="146304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937760"/>
            <a:ext cx="521208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5029200"/>
            <a:ext cx="4892040" cy="1280160"/>
          </a:xfrm>
          <a:prstGeom prst="rect">
            <a:avLst/>
          </a:prstGeom>
          <a:noFill/>
        </p:spPr>
        <p:txBody>
          <a:bodyPr wrap="square">
            <a:spAutoFit/>
          </a:bodyPr>
          <a:lstStyle/>
          <a:p>
            <a:pPr>
              <a:defRPr sz="1100" b="1">
                <a:solidFill>
                  <a:srgbClr val="16A34A"/>
                </a:solidFill>
                <a:latin typeface="Arial"/>
              </a:defRPr>
            </a:pPr>
            <a:r>
              <a:t>KẾT QUẢ ĐO LƯỜNG HOÀN THÀNH</a:t>
            </a:r>
          </a:p>
          <a:p>
            <a:pPr>
              <a:defRPr sz="950">
                <a:solidFill>
                  <a:srgbClr val="1E293B"/>
                </a:solidFill>
                <a:latin typeface="Arial"/>
              </a:defRPr>
            </a:pPr>
            <a:r>
              <a:t>• Hoàn thành 100% khối lượng đề cương theo quy định Khoa CNTT HUCE</a:t>
            </a:r>
            <a:br/>
            <a:r>
              <a:t>• Báo cáo thực tập 42 trang Biểu mẫu TTTN-06 + Website Workshop GitHub Pages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2: BỐI CẢNH &amp; BÀI TOÁN KỸ THUẬT</a:t>
            </a:r>
          </a:p>
          <a:p>
            <a:pPr>
              <a:defRPr sz="2000" b="1">
                <a:solidFill>
                  <a:srgbClr val="0F172A"/>
                </a:solidFill>
                <a:latin typeface="Arial"/>
              </a:defRPr>
            </a:pPr>
            <a:r>
              <a:t>3 Thách thức Trọng tâm trong Xử lý Tài liệu Kỹ thuật Lớn</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03 / 20</a:t>
            </a:r>
          </a:p>
        </p:txBody>
      </p:sp>
      <p:sp>
        <p:nvSpPr>
          <p:cNvPr id="6" name="Rectangle 5"/>
          <p:cNvSpPr/>
          <p:nvPr/>
        </p:nvSpPr>
        <p:spPr>
          <a:xfrm>
            <a:off x="731520" y="1234440"/>
            <a:ext cx="10728655"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10728655"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344168"/>
            <a:ext cx="10317175" cy="1289304"/>
          </a:xfrm>
          <a:prstGeom prst="rect">
            <a:avLst/>
          </a:prstGeom>
          <a:noFill/>
        </p:spPr>
        <p:txBody>
          <a:bodyPr wrap="square">
            <a:spAutoFit/>
          </a:bodyPr>
          <a:lstStyle/>
          <a:p>
            <a:pPr>
              <a:defRPr sz="1250" b="1">
                <a:solidFill>
                  <a:srgbClr val="232F3E"/>
                </a:solidFill>
                <a:latin typeface="Arial"/>
              </a:defRPr>
            </a:pPr>
            <a:r>
              <a:t>THÁCH THỨC 1: CẤU TRÚC PHỨC TẠP &amp; VỠ BẢNG BIỂU</a:t>
            </a:r>
          </a:p>
          <a:p>
            <a:pPr>
              <a:defRPr sz="1000">
                <a:solidFill>
                  <a:srgbClr val="1E293B"/>
                </a:solidFill>
                <a:latin typeface="Arial"/>
              </a:defRPr>
            </a:pPr>
            <a:r>
              <a:t>• Tài liệu kỹ thuật, tiêu chuẩn xây dựng, hồ sơ dự án chứa dày đặc bảng biểu số liệu, văn bản 2 cột, công thức toán và sơ đồ bản vẽ.</a:t>
            </a:r>
          </a:p>
          <a:p>
            <a:pPr>
              <a:defRPr sz="1000">
                <a:solidFill>
                  <a:srgbClr val="1E293B"/>
                </a:solidFill>
                <a:latin typeface="Arial"/>
              </a:defRPr>
            </a:pPr>
            <a:r>
              <a:t>• Các công cụ OCR văn phòng thông thường làm vỡ hoàn toàn định dạng bảng và mất quan hệ dòng/cột logic.</a:t>
            </a:r>
          </a:p>
          <a:p>
            <a:pPr>
              <a:defRPr sz="1000" i="1">
                <a:solidFill>
                  <a:srgbClr val="64748B"/>
                </a:solidFill>
                <a:latin typeface="Arial"/>
              </a:defRPr>
            </a:pPr>
            <a:r>
              <a:t>   &gt;&gt; Hệ quả thực tế: Người dùng mất 40% thời gian chỉnh sửa lại định dạng thủ công.</a:t>
            </a:r>
          </a:p>
        </p:txBody>
      </p:sp>
      <p:sp>
        <p:nvSpPr>
          <p:cNvPr id="9" name="Rectangle 8"/>
          <p:cNvSpPr/>
          <p:nvPr/>
        </p:nvSpPr>
        <p:spPr>
          <a:xfrm>
            <a:off x="731520" y="2971800"/>
            <a:ext cx="10728655"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971800"/>
            <a:ext cx="107286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081528"/>
            <a:ext cx="10317175" cy="1289304"/>
          </a:xfrm>
          <a:prstGeom prst="rect">
            <a:avLst/>
          </a:prstGeom>
          <a:noFill/>
        </p:spPr>
        <p:txBody>
          <a:bodyPr wrap="square">
            <a:spAutoFit/>
          </a:bodyPr>
          <a:lstStyle/>
          <a:p>
            <a:pPr>
              <a:defRPr sz="1250" b="1">
                <a:solidFill>
                  <a:srgbClr val="0284C7"/>
                </a:solidFill>
                <a:latin typeface="Arial"/>
              </a:defRPr>
            </a:pPr>
            <a:r>
              <a:t>THÁCH THỨC 2: CHI PHÍ &amp; ĐỘ TRỄ KHI GỌI VISION LLM</a:t>
            </a:r>
          </a:p>
          <a:p>
            <a:pPr>
              <a:defRPr sz="1000">
                <a:solidFill>
                  <a:srgbClr val="1E293B"/>
                </a:solidFill>
                <a:latin typeface="Arial"/>
              </a:defRPr>
            </a:pPr>
            <a:r>
              <a:t>• Việc đưa toàn bộ các trang tài liệu qua các Vision Multimodal LLM thương mại gây tốn kém chi phí cực lớn (hàng chục USD/tài liệu) và độ trễ cao (&gt; 10s/trang).</a:t>
            </a:r>
          </a:p>
          <a:p>
            <a:pPr>
              <a:defRPr sz="1000">
                <a:solidFill>
                  <a:srgbClr val="1E293B"/>
                </a:solidFill>
                <a:latin typeface="Arial"/>
              </a:defRPr>
            </a:pPr>
            <a:r>
              <a:t>• Trong khi thực tế hơn 85% tài liệu kỹ thuật lưu hành là PDF số có sẵn văn bản vector sắc nét.</a:t>
            </a:r>
          </a:p>
          <a:p>
            <a:pPr>
              <a:defRPr sz="1000" i="1">
                <a:solidFill>
                  <a:srgbClr val="64748B"/>
                </a:solidFill>
                <a:latin typeface="Arial"/>
              </a:defRPr>
            </a:pPr>
            <a:r>
              <a:t>   &gt;&gt; Hệ quả thực tế: Lãng phí tài nguyên tính toán và chi phí API không cần thiết.</a:t>
            </a:r>
          </a:p>
        </p:txBody>
      </p:sp>
      <p:sp>
        <p:nvSpPr>
          <p:cNvPr id="12" name="Rectangle 11"/>
          <p:cNvSpPr/>
          <p:nvPr/>
        </p:nvSpPr>
        <p:spPr>
          <a:xfrm>
            <a:off x="731520" y="4709160"/>
            <a:ext cx="10728655" cy="1508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709160"/>
            <a:ext cx="10728655"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818888"/>
            <a:ext cx="10317175" cy="1289304"/>
          </a:xfrm>
          <a:prstGeom prst="rect">
            <a:avLst/>
          </a:prstGeom>
          <a:noFill/>
        </p:spPr>
        <p:txBody>
          <a:bodyPr wrap="square">
            <a:spAutoFit/>
          </a:bodyPr>
          <a:lstStyle/>
          <a:p>
            <a:pPr>
              <a:defRPr sz="1250" b="1">
                <a:solidFill>
                  <a:srgbClr val="D97706"/>
                </a:solidFill>
                <a:latin typeface="Arial"/>
              </a:defRPr>
            </a:pPr>
            <a:r>
              <a:t>THÁCH THỨC 3: GIỚI HẠN 10 MB PAYLOAD CỦA API GATEWAY</a:t>
            </a:r>
          </a:p>
          <a:p>
            <a:pPr>
              <a:defRPr sz="1000">
                <a:solidFill>
                  <a:srgbClr val="1E293B"/>
                </a:solidFill>
                <a:latin typeface="Arial"/>
              </a:defRPr>
            </a:pPr>
            <a:r>
              <a:t>• Amazon API Gateway có hạn mức cố định Payload tối đa 10 MB, gây lỗi 413 Payload Too Large khi người dùng tải lên hồ sơ dự án lớn (15 MB đến 100 MB).</a:t>
            </a:r>
          </a:p>
          <a:p>
            <a:pPr>
              <a:defRPr sz="1000">
                <a:solidFill>
                  <a:srgbClr val="1E293B"/>
                </a:solidFill>
                <a:latin typeface="Arial"/>
              </a:defRPr>
            </a:pPr>
            <a:r>
              <a:t>• Máy chủ Web bị nghẽn băng thông do phải trung chuyển luồng tệp nhị phân dung lượng lớn.</a:t>
            </a:r>
          </a:p>
          <a:p>
            <a:pPr>
              <a:defRPr sz="1000" i="1">
                <a:solidFill>
                  <a:srgbClr val="64748B"/>
                </a:solidFill>
                <a:latin typeface="Arial"/>
              </a:defRPr>
            </a:pPr>
            <a:r>
              <a:t>   &gt;&gt; Hệ quả thực tế: Hệ thống bị treo khi nhiều người dùng tải tệp cùng lúc.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KIẾN TRÚC HỆ THỐNG</a:t>
            </a:r>
          </a:p>
          <a:p>
            <a:pPr>
              <a:defRPr sz="2000" b="1">
                <a:solidFill>
                  <a:srgbClr val="0F172A"/>
                </a:solidFill>
                <a:latin typeface="Arial"/>
              </a:defRPr>
            </a:pPr>
            <a:r>
              <a:t>Mô hình 5 Phân tầng Nền tảng Serverless Hybrid Platform</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04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232F3E"/>
                </a:solidFill>
                <a:latin typeface="Arial"/>
              </a:defRPr>
            </a:pPr>
            <a:r>
              <a:t>5 PHÂN TẦNG KIẾN TRÚC DOANH NGHIỆP</a:t>
            </a:r>
          </a:p>
          <a:p>
            <a:pPr>
              <a:lnSpc>
                <a:spcPct val="115000"/>
              </a:lnSpc>
              <a:defRPr sz="950">
                <a:solidFill>
                  <a:srgbClr val="1E293B"/>
                </a:solidFill>
                <a:latin typeface="Arial"/>
              </a:defRPr>
            </a:pPr>
            <a:r>
              <a:t>• 1. Presentation Layer: Web Studio SPA, trình soạn thảo đối chiếu song ngữ Side-by-Side thời gian thực.</a:t>
            </a:r>
          </a:p>
          <a:p>
            <a:pPr>
              <a:lnSpc>
                <a:spcPct val="115000"/>
              </a:lnSpc>
              <a:defRPr sz="950">
                <a:solidFill>
                  <a:srgbClr val="1E293B"/>
                </a:solidFill>
                <a:latin typeface="Arial"/>
              </a:defRPr>
            </a:pPr>
            <a:r>
              <a:t>• 2. Ingress &amp; Routing: VPC Three-Tier Multi-AZ, Application Load Balancer và Security Group Chaining.</a:t>
            </a:r>
          </a:p>
          <a:p>
            <a:pPr>
              <a:lnSpc>
                <a:spcPct val="115000"/>
              </a:lnSpc>
              <a:defRPr sz="950">
                <a:solidFill>
                  <a:srgbClr val="1E293B"/>
                </a:solidFill>
                <a:latin typeface="Arial"/>
              </a:defRPr>
            </a:pPr>
            <a:r>
              <a:t>• 3. Compute &amp; Event: Máy chủ EC2 AL2023 Gunicorn kết hợp AWS Lambda s3-trigger phản hồi trong 214 ms.</a:t>
            </a:r>
          </a:p>
          <a:p>
            <a:pPr>
              <a:lnSpc>
                <a:spcPct val="115000"/>
              </a:lnSpc>
              <a:defRPr sz="950">
                <a:solidFill>
                  <a:srgbClr val="1E293B"/>
                </a:solidFill>
                <a:latin typeface="Arial"/>
              </a:defRPr>
            </a:pPr>
            <a:r>
              <a:t>• 4. Hybrid AI Engine: Fast-Path Native (0.28s/trang) cho PDF số và Multimodal Vision OCR cho ảnh scan.</a:t>
            </a:r>
          </a:p>
          <a:p>
            <a:pPr>
              <a:lnSpc>
                <a:spcPct val="115000"/>
              </a:lnSpc>
              <a:defRPr sz="950">
                <a:solidFill>
                  <a:srgbClr val="1E293B"/>
                </a:solidFill>
                <a:latin typeface="Arial"/>
              </a:defRPr>
            </a:pPr>
            <a:r>
              <a:t>• 5. Polyglot Persistence: DynamoDB (Jobs), Amazon S3 (Files) và SQLite (Auth &amp; API Key Tour).</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0284C7"/>
                </a:solidFill>
                <a:latin typeface="Arial"/>
              </a:defRPr>
            </a:pPr>
            <a:r>
              <a:t>CHỈ SỐ THIẾT KẾ ĐÁM MÂY</a:t>
            </a:r>
          </a:p>
          <a:p>
            <a:pPr>
              <a:defRPr sz="950">
                <a:solidFill>
                  <a:srgbClr val="1E293B"/>
                </a:solidFill>
                <a:latin typeface="Arial"/>
              </a:defRPr>
            </a:pPr>
            <a:r>
              <a:t>• Độ sẵn sàng cao: Multi-AZ High Availability</a:t>
            </a:r>
            <a:br/>
            <a:r>
              <a:t>• Tối ưu chi phí: Scale-to-Zero phi máy chủ</a:t>
            </a:r>
            <a:br/>
            <a:r>
              <a:t>• Khắc phục 100% trần 10MB của API Gateway</a:t>
            </a:r>
          </a:p>
        </p:txBody>
      </p:sp>
      <p:sp>
        <p:nvSpPr>
          <p:cNvPr id="12" name="Rectangle 11"/>
          <p:cNvSpPr/>
          <p:nvPr/>
        </p:nvSpPr>
        <p:spPr>
          <a:xfrm>
            <a:off x="4553712" y="1834399"/>
            <a:ext cx="6894576" cy="396644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system-architecture.png"/>
          <p:cNvPicPr>
            <a:picLocks noChangeAspect="1"/>
          </p:cNvPicPr>
          <p:nvPr/>
        </p:nvPicPr>
        <p:blipFill>
          <a:blip r:embed="rId2"/>
          <a:stretch>
            <a:fillRect/>
          </a:stretch>
        </p:blipFill>
        <p:spPr>
          <a:xfrm>
            <a:off x="4572000" y="1852687"/>
            <a:ext cx="6858000" cy="392986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PHÂN TÍCH CHỨC NĂNG</a:t>
            </a:r>
          </a:p>
          <a:p>
            <a:pPr>
              <a:defRPr sz="2000" b="1">
                <a:solidFill>
                  <a:srgbClr val="0F172A"/>
                </a:solidFill>
                <a:latin typeface="Arial"/>
              </a:defRPr>
            </a:pPr>
            <a:r>
              <a:t>Sơ đồ Ca sử dụng Tổng thể &amp; Mô hình Tác nhân (Use Case Architecture)</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05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0284C7"/>
                </a:solidFill>
                <a:latin typeface="Arial"/>
              </a:defRPr>
            </a:pPr>
            <a:r>
              <a:t>PHÂN RÃ 13 CA SỬ DỤNG THEO 4 TÁC NHÂN</a:t>
            </a:r>
          </a:p>
          <a:p>
            <a:pPr>
              <a:lnSpc>
                <a:spcPct val="115000"/>
              </a:lnSpc>
              <a:defRPr sz="950">
                <a:solidFill>
                  <a:srgbClr val="1E293B"/>
                </a:solidFill>
                <a:latin typeface="Arial"/>
              </a:defRPr>
            </a:pPr>
            <a:r>
              <a:t>• End User (6 UCs): Đăng nhập; Thiết lập theme &amp; model; Tải tệp lớn qua Presigned URL; Biên tập song ngữ; Xuất bản MD/DOCX/PDF; Tra cứu lịch sử.</a:t>
            </a:r>
          </a:p>
          <a:p>
            <a:pPr>
              <a:lnSpc>
                <a:spcPct val="115000"/>
              </a:lnSpc>
              <a:defRPr sz="950">
                <a:solidFill>
                  <a:srgbClr val="1E293B"/>
                </a:solidFill>
                <a:latin typeface="Arial"/>
              </a:defRPr>
            </a:pPr>
            <a:r>
              <a:t>• Administrator (3 UCs): Quản lý xoay vòng API Keys (Key Tour); Giám sát Telemetry trên CloudWatch; Kiểm soát trần FinOps 0.00 USD.</a:t>
            </a:r>
          </a:p>
          <a:p>
            <a:pPr>
              <a:lnSpc>
                <a:spcPct val="115000"/>
              </a:lnSpc>
              <a:defRPr sz="950">
                <a:solidFill>
                  <a:srgbClr val="1E293B"/>
                </a:solidFill>
                <a:latin typeface="Arial"/>
              </a:defRPr>
            </a:pPr>
            <a:r>
              <a:t>• AWS Event System (2 UCs): Bắt sự kiện s3:ObjectCreated; Tự động kích hoạt Lambda (214ms); Đồng bộ tiến trình DynamoDB Jobs.</a:t>
            </a:r>
          </a:p>
          <a:p>
            <a:pPr>
              <a:lnSpc>
                <a:spcPct val="115000"/>
              </a:lnSpc>
              <a:defRPr sz="950">
                <a:solidFill>
                  <a:srgbClr val="1E293B"/>
                </a:solidFill>
                <a:latin typeface="Arial"/>
              </a:defRPr>
            </a:pPr>
            <a:r>
              <a:t>• AI Inference (2 UCs): Cung cấp Vision OCR (Qwen2.5-VL / Gemini) và dịch thuật ngữ kỹ thuật chuyên ngành.</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16A34A"/>
                </a:solidFill>
                <a:latin typeface="Arial"/>
              </a:defRPr>
            </a:pPr>
            <a:r>
              <a:t>KIỂM CHỨNG THIẾT KẾ (ZERO COLLISION)</a:t>
            </a:r>
          </a:p>
          <a:p>
            <a:pPr>
              <a:defRPr sz="950">
                <a:solidFill>
                  <a:srgbClr val="1E293B"/>
                </a:solidFill>
                <a:latin typeface="Arial"/>
              </a:defRPr>
            </a:pPr>
            <a:r>
              <a:t>• 100% đường nối Actor-to-UC là đường thẳng ngang</a:t>
            </a:r>
            <a:br/>
            <a:r>
              <a:t>• Phân tách ranh giới Human vs System Actors rõ ràng</a:t>
            </a:r>
            <a:br/>
            <a:r>
              <a:t>• Đảm bảo tính toàn vẹn chức năng chuẩn UML 2.5</a:t>
            </a:r>
          </a:p>
        </p:txBody>
      </p:sp>
      <p:sp>
        <p:nvSpPr>
          <p:cNvPr id="12" name="Rectangle 11"/>
          <p:cNvSpPr/>
          <p:nvPr/>
        </p:nvSpPr>
        <p:spPr>
          <a:xfrm>
            <a:off x="4553712" y="1723884"/>
            <a:ext cx="6894576" cy="418747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use-case-architecture.png"/>
          <p:cNvPicPr>
            <a:picLocks noChangeAspect="1"/>
          </p:cNvPicPr>
          <p:nvPr/>
        </p:nvPicPr>
        <p:blipFill>
          <a:blip r:embed="rId2"/>
          <a:stretch>
            <a:fillRect/>
          </a:stretch>
        </p:blipFill>
        <p:spPr>
          <a:xfrm>
            <a:off x="4572000" y="1742172"/>
            <a:ext cx="6858000" cy="41508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HẠ TẦNG ĐÁM MÂY AWS</a:t>
            </a:r>
          </a:p>
          <a:p>
            <a:pPr>
              <a:defRPr sz="2000" b="1">
                <a:solidFill>
                  <a:srgbClr val="0F172A"/>
                </a:solidFill>
                <a:latin typeface="Arial"/>
              </a:defRPr>
            </a:pPr>
            <a:r>
              <a:t>Sơ đồ Kiến trúc Tổng thể Hệ thống trên Nền tảng Đám mây AWS</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06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232F3E"/>
                </a:solidFill>
                <a:latin typeface="Arial"/>
              </a:defRPr>
            </a:pPr>
            <a:r>
              <a:t>ĐẶC TẢ TRIỂN KHAI AWS MULTI-AZ</a:t>
            </a:r>
          </a:p>
          <a:p>
            <a:pPr>
              <a:lnSpc>
                <a:spcPct val="115000"/>
              </a:lnSpc>
              <a:defRPr sz="950">
                <a:solidFill>
                  <a:srgbClr val="1E293B"/>
                </a:solidFill>
                <a:latin typeface="Arial"/>
              </a:defRPr>
            </a:pPr>
            <a:r>
              <a:t>• Vùng Triển khai: Khu vực ap-southeast-1 (Singapore) trải rộng trên 2 Vùng sẵn sàng ap-southeast-1a và 1b.</a:t>
            </a:r>
          </a:p>
          <a:p>
            <a:pPr>
              <a:lnSpc>
                <a:spcPct val="115000"/>
              </a:lnSpc>
              <a:defRPr sz="950">
                <a:solidFill>
                  <a:srgbClr val="1E293B"/>
                </a:solidFill>
                <a:latin typeface="Arial"/>
              </a:defRPr>
            </a:pPr>
            <a:r>
              <a:t>• Tài khoản Quản trị: Account ID: 677994024390, IAM User: dev_admin tuân thủ Least Privilege.</a:t>
            </a:r>
          </a:p>
          <a:p>
            <a:pPr>
              <a:lnSpc>
                <a:spcPct val="115000"/>
              </a:lnSpc>
              <a:defRPr sz="950">
                <a:solidFill>
                  <a:srgbClr val="1E293B"/>
                </a:solidFill>
                <a:latin typeface="Arial"/>
              </a:defRPr>
            </a:pPr>
            <a:r>
              <a:t>• Cân bằng tải ALB: Application Load Balancer định tuyến lưu lượng vào Target Group EC2 AL2023 Gunicorn.</a:t>
            </a:r>
          </a:p>
          <a:p>
            <a:pPr>
              <a:lnSpc>
                <a:spcPct val="115000"/>
              </a:lnSpc>
              <a:defRPr sz="950">
                <a:solidFill>
                  <a:srgbClr val="1E293B"/>
                </a:solidFill>
                <a:latin typeface="Arial"/>
              </a:defRPr>
            </a:pPr>
            <a:r>
              <a:t>• Lưu trữ Đối tượng S3: Bucket: huylam-ocr-documents-ap-southeast-1, mã hóa SSE-S3 AES-256.</a:t>
            </a:r>
          </a:p>
          <a:p>
            <a:pPr>
              <a:lnSpc>
                <a:spcPct val="115000"/>
              </a:lnSpc>
              <a:defRPr sz="950">
                <a:solidFill>
                  <a:srgbClr val="1E293B"/>
                </a:solidFill>
                <a:latin typeface="Arial"/>
              </a:defRPr>
            </a:pPr>
            <a:r>
              <a:t>• Cơ sở Dữ liệu NoSQL: Amazon DynamoDB On-Demand huylam-ocr-jobs lưu vết trạng thái với độ trễ &lt; 8 ms.</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D97706"/>
                </a:solidFill>
                <a:latin typeface="Arial"/>
              </a:defRPr>
            </a:pPr>
            <a:r>
              <a:t>AWS WELL-ARCHITECTED ALIGNMENT</a:t>
            </a:r>
          </a:p>
          <a:p>
            <a:pPr>
              <a:defRPr sz="950">
                <a:solidFill>
                  <a:srgbClr val="1E293B"/>
                </a:solidFill>
                <a:latin typeface="Arial"/>
              </a:defRPr>
            </a:pPr>
            <a:r>
              <a:t>• Trụ cột Bảo mật: 100% dữ liệu mã hóa tĩnh &amp; động</a:t>
            </a:r>
            <a:br/>
            <a:r>
              <a:t>• Trụ cột Tin cậy: Tự động chuyển mạch khi sự cố</a:t>
            </a:r>
            <a:br/>
            <a:r>
              <a:t>• Trụ cột Tối ưu: Vận hành không phát sinh chi phí</a:t>
            </a:r>
          </a:p>
        </p:txBody>
      </p:sp>
      <p:sp>
        <p:nvSpPr>
          <p:cNvPr id="12" name="Rectangle 11"/>
          <p:cNvSpPr/>
          <p:nvPr/>
        </p:nvSpPr>
        <p:spPr>
          <a:xfrm>
            <a:off x="4553712" y="1834399"/>
            <a:ext cx="6894576" cy="396644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system-architecture.png"/>
          <p:cNvPicPr>
            <a:picLocks noChangeAspect="1"/>
          </p:cNvPicPr>
          <p:nvPr/>
        </p:nvPicPr>
        <p:blipFill>
          <a:blip r:embed="rId2"/>
          <a:stretch>
            <a:fillRect/>
          </a:stretch>
        </p:blipFill>
        <p:spPr>
          <a:xfrm>
            <a:off x="4572000" y="1852687"/>
            <a:ext cx="6858000" cy="392986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AN NINH MẠNG</a:t>
            </a:r>
          </a:p>
          <a:p>
            <a:pPr>
              <a:defRPr sz="2000" b="1">
                <a:solidFill>
                  <a:srgbClr val="0F172A"/>
                </a:solidFill>
                <a:latin typeface="Arial"/>
              </a:defRPr>
            </a:pPr>
            <a:r>
              <a:t>Mạng ảo Amazon VPC Three-Tier Multi-AZ Phân tách Subnet Độ Sẵn Sàng Cao</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07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0284C7"/>
                </a:solidFill>
                <a:latin typeface="Arial"/>
              </a:defRPr>
            </a:pPr>
            <a:r>
              <a:t>CẤU TRÚC PHÂN VÙNG MẠNG ẢO VPC</a:t>
            </a:r>
          </a:p>
          <a:p>
            <a:pPr>
              <a:lnSpc>
                <a:spcPct val="115000"/>
              </a:lnSpc>
              <a:defRPr sz="950">
                <a:solidFill>
                  <a:srgbClr val="1E293B"/>
                </a:solidFill>
                <a:latin typeface="Arial"/>
              </a:defRPr>
            </a:pPr>
            <a:r>
              <a:t>• Custom VPC: huylam-vpc CIDR dải mạng 10.0.0.0/16 tại khu vực Singapore (ap-southeast-1).</a:t>
            </a:r>
          </a:p>
          <a:p>
            <a:pPr>
              <a:lnSpc>
                <a:spcPct val="115000"/>
              </a:lnSpc>
              <a:defRPr sz="950">
                <a:solidFill>
                  <a:srgbClr val="1E293B"/>
                </a:solidFill>
                <a:latin typeface="Arial"/>
              </a:defRPr>
            </a:pPr>
            <a:r>
              <a:t>• Public Subnets: 2 Subnets (10.0.0.0/20 &amp; 10.0.16.0/20) chứa ALB và Internet Gateway.</a:t>
            </a:r>
          </a:p>
          <a:p>
            <a:pPr>
              <a:lnSpc>
                <a:spcPct val="115000"/>
              </a:lnSpc>
              <a:defRPr sz="950">
                <a:solidFill>
                  <a:srgbClr val="1E293B"/>
                </a:solidFill>
                <a:latin typeface="Arial"/>
              </a:defRPr>
            </a:pPr>
            <a:r>
              <a:t>• Private Subnets: 2 Subnets (10.0.128.0/20 &amp; 10.0.144.0/20) cô lập hoàn toàn máy chủ EC2.</a:t>
            </a:r>
          </a:p>
          <a:p>
            <a:pPr>
              <a:lnSpc>
                <a:spcPct val="115000"/>
              </a:lnSpc>
              <a:defRPr sz="950">
                <a:solidFill>
                  <a:srgbClr val="1E293B"/>
                </a:solidFill>
                <a:latin typeface="Arial"/>
              </a:defRPr>
            </a:pPr>
            <a:r>
              <a:t>• Isolated Subnets: Phân vùng Database không có Internet Ingress lẫn Egress, an toàn tuyệt đối.</a:t>
            </a:r>
          </a:p>
          <a:p>
            <a:pPr>
              <a:lnSpc>
                <a:spcPct val="115000"/>
              </a:lnSpc>
              <a:defRPr sz="950">
                <a:solidFill>
                  <a:srgbClr val="1E293B"/>
                </a:solidFill>
                <a:latin typeface="Arial"/>
              </a:defRPr>
            </a:pPr>
            <a:r>
              <a:t>• High Availability: Standby Route Table và Target Group sẵn sàng kích hoạt chuyển mạch khi có sự cố.</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232F3E"/>
                </a:solidFill>
                <a:latin typeface="Arial"/>
              </a:defRPr>
            </a:pPr>
            <a:r>
              <a:t>NGUYÊN LÝ CÔ LẬP MẠNG</a:t>
            </a:r>
          </a:p>
          <a:p>
            <a:pPr>
              <a:defRPr sz="950">
                <a:solidFill>
                  <a:srgbClr val="1E293B"/>
                </a:solidFill>
                <a:latin typeface="Arial"/>
              </a:defRPr>
            </a:pPr>
            <a:r>
              <a:t>• Không gán Public IP cho máy chủ EC2 Backend</a:t>
            </a:r>
            <a:br/>
            <a:r>
              <a:t>• Chỉ cho phép truy cập web thông qua Load Balancer</a:t>
            </a:r>
            <a:br/>
            <a:r>
              <a:t>• Loại bỏ hoàn toàn nguy cơ quét cổng diện rộng</a:t>
            </a:r>
          </a:p>
        </p:txBody>
      </p:sp>
      <p:sp>
        <p:nvSpPr>
          <p:cNvPr id="12" name="Rectangle 11"/>
          <p:cNvSpPr/>
          <p:nvPr/>
        </p:nvSpPr>
        <p:spPr>
          <a:xfrm>
            <a:off x="4553712" y="1696212"/>
            <a:ext cx="6894576" cy="4242816"/>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vpc-network-architecture.png"/>
          <p:cNvPicPr>
            <a:picLocks noChangeAspect="1"/>
          </p:cNvPicPr>
          <p:nvPr/>
        </p:nvPicPr>
        <p:blipFill>
          <a:blip r:embed="rId2"/>
          <a:stretch>
            <a:fillRect/>
          </a:stretch>
        </p:blipFill>
        <p:spPr>
          <a:xfrm>
            <a:off x="4572000" y="1714500"/>
            <a:ext cx="6858000" cy="4206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AN NINH MẠNG</a:t>
            </a:r>
          </a:p>
          <a:p>
            <a:pPr>
              <a:defRPr sz="2000" b="1">
                <a:solidFill>
                  <a:srgbClr val="0F172A"/>
                </a:solidFill>
                <a:latin typeface="Arial"/>
              </a:defRPr>
            </a:pPr>
            <a:r>
              <a:t>Cơ chế Bảo mật Zero-Trust &amp; Security Group Chaining Phân tầng</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08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7E22CE"/>
          </a:solidFill>
          <a:ln>
            <a:solidFill>
              <a:srgbClr val="7E22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7E22CE"/>
                </a:solidFill>
                <a:latin typeface="Arial"/>
              </a:defRPr>
            </a:pPr>
            <a:r>
              <a:t>CHUỖI LIÊN KẾT NHÓM BẢO MẬT</a:t>
            </a:r>
          </a:p>
          <a:p>
            <a:pPr>
              <a:lnSpc>
                <a:spcPct val="115000"/>
              </a:lnSpc>
              <a:defRPr sz="950">
                <a:solidFill>
                  <a:srgbClr val="1E293B"/>
                </a:solidFill>
                <a:latin typeface="Arial"/>
              </a:defRPr>
            </a:pPr>
            <a:r>
              <a:t>• ALB Security Group: Chỉ mở cổng Inbound HTTP 80 tiếp nhận yêu cầu từ địa chỉ IP của người dùng.</a:t>
            </a:r>
          </a:p>
          <a:p>
            <a:pPr>
              <a:lnSpc>
                <a:spcPct val="115000"/>
              </a:lnSpc>
              <a:defRPr sz="950">
                <a:solidFill>
                  <a:srgbClr val="1E293B"/>
                </a:solidFill>
                <a:latin typeface="Arial"/>
              </a:defRPr>
            </a:pPr>
            <a:r>
              <a:t>• EC2 Security Group: Chỉ cho phép Inbound cổng 5000 tham chiếu trực tiếp Security Group ID của ALB. Chặn 100% traffic ngoài.</a:t>
            </a:r>
          </a:p>
          <a:p>
            <a:pPr>
              <a:lnSpc>
                <a:spcPct val="115000"/>
              </a:lnSpc>
              <a:defRPr sz="950">
                <a:solidFill>
                  <a:srgbClr val="1E293B"/>
                </a:solidFill>
                <a:latin typeface="Arial"/>
              </a:defRPr>
            </a:pPr>
            <a:r>
              <a:t>• Đóng cổng SSH 22: Không mở cổng 22. Quản trị máy chủ thông qua AWS Systems Manager (SSM) Session Manager an toàn.</a:t>
            </a:r>
          </a:p>
          <a:p>
            <a:pPr>
              <a:lnSpc>
                <a:spcPct val="115000"/>
              </a:lnSpc>
              <a:defRPr sz="950">
                <a:solidFill>
                  <a:srgbClr val="1E293B"/>
                </a:solidFill>
                <a:latin typeface="Arial"/>
              </a:defRPr>
            </a:pPr>
            <a:r>
              <a:t>• Mã hóa Kênh truyền: Toàn bộ phiên làm việc quản trị được mã hóa TLS 443 và ghi nhật ký giám sát đầy đủ.</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16A34A"/>
                </a:solidFill>
                <a:latin typeface="Arial"/>
              </a:defRPr>
            </a:pPr>
            <a:r>
              <a:t>LỢI ÍCH AN NINH ZERO-TRUST</a:t>
            </a:r>
          </a:p>
          <a:p>
            <a:pPr>
              <a:defRPr sz="950">
                <a:solidFill>
                  <a:srgbClr val="1E293B"/>
                </a:solidFill>
                <a:latin typeface="Arial"/>
              </a:defRPr>
            </a:pPr>
            <a:r>
              <a:t>• Loại bỏ hoàn toàn việc quản lý tệp SSH Key (.pem)</a:t>
            </a:r>
            <a:br/>
            <a:r>
              <a:t>• Kiểm soát quyền hạn máy chủ theo IAM Role Instance</a:t>
            </a:r>
            <a:br/>
            <a:r>
              <a:t>• Ghi nhận 100% lịch sử phiên lệnh trên CloudWatch</a:t>
            </a:r>
          </a:p>
        </p:txBody>
      </p:sp>
      <p:sp>
        <p:nvSpPr>
          <p:cNvPr id="12" name="Rectangle 11"/>
          <p:cNvSpPr/>
          <p:nvPr/>
        </p:nvSpPr>
        <p:spPr>
          <a:xfrm>
            <a:off x="4553712" y="2059618"/>
            <a:ext cx="6894576" cy="3516002"/>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security-group-chaining.png"/>
          <p:cNvPicPr>
            <a:picLocks noChangeAspect="1"/>
          </p:cNvPicPr>
          <p:nvPr/>
        </p:nvPicPr>
        <p:blipFill>
          <a:blip r:embed="rId2"/>
          <a:stretch>
            <a:fillRect/>
          </a:stretch>
        </p:blipFill>
        <p:spPr>
          <a:xfrm>
            <a:off x="4572000" y="2077906"/>
            <a:ext cx="6858000" cy="34794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TRỌNG TÂM KỸ THUẬT</a:t>
            </a:r>
          </a:p>
          <a:p>
            <a:pPr>
              <a:defRPr sz="2000" b="1">
                <a:solidFill>
                  <a:srgbClr val="0F172A"/>
                </a:solidFill>
                <a:latin typeface="Arial"/>
              </a:defRPr>
            </a:pPr>
            <a:r>
              <a:t>Động cơ Bóc tách Kép Thông minh (Dual-Engine Hybrid Parser)</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09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16A34A"/>
                </a:solidFill>
                <a:latin typeface="Arial"/>
              </a:defRPr>
            </a:pPr>
            <a:r>
              <a:t>THUẬT TOÁN PHÂN LUỒNG TỐI ƯU</a:t>
            </a:r>
          </a:p>
          <a:p>
            <a:pPr>
              <a:lnSpc>
                <a:spcPct val="115000"/>
              </a:lnSpc>
              <a:defRPr sz="950">
                <a:solidFill>
                  <a:srgbClr val="1E293B"/>
                </a:solidFill>
                <a:latin typeface="Arial"/>
              </a:defRPr>
            </a:pPr>
            <a:r>
              <a:t>• Tầng 1: Fast-Path Native: Phân tích cấu trúc vector của PDF bằng PyMuPDF. Tốc độ 0.28s/trang, chi phí 0.00 USD, giữ 100% cấu trúc bảng.</a:t>
            </a:r>
          </a:p>
          <a:p>
            <a:pPr>
              <a:lnSpc>
                <a:spcPct val="115000"/>
              </a:lnSpc>
              <a:defRPr sz="950">
                <a:solidFill>
                  <a:srgbClr val="1E293B"/>
                </a:solidFill>
                <a:latin typeface="Arial"/>
              </a:defRPr>
            </a:pPr>
            <a:r>
              <a:t>• Ngưỡng Mật độ Ký tự: Kiểm tra Character Density Threshold (0.05). Nếu trang có mật độ chữ cao -&gt; kích hoạt Fast-Path ngay lập tức.</a:t>
            </a:r>
          </a:p>
          <a:p>
            <a:pPr>
              <a:lnSpc>
                <a:spcPct val="115000"/>
              </a:lnSpc>
              <a:defRPr sz="950">
                <a:solidFill>
                  <a:srgbClr val="1E293B"/>
                </a:solidFill>
                <a:latin typeface="Arial"/>
              </a:defRPr>
            </a:pPr>
            <a:r>
              <a:t>• Tầng 2: Multimodal OCR: Kích hoạt khi trang scan có mật độ chữ thấp. Sử dụng Qwen2.5-VL 72B (Kaggle GPU) kết hợp failover sang Gemini Flash.</a:t>
            </a:r>
          </a:p>
          <a:p>
            <a:pPr>
              <a:lnSpc>
                <a:spcPct val="115000"/>
              </a:lnSpc>
              <a:defRPr sz="950">
                <a:solidFill>
                  <a:srgbClr val="1E293B"/>
                </a:solidFill>
                <a:latin typeface="Arial"/>
              </a:defRPr>
            </a:pPr>
            <a:r>
              <a:t>• Hiệu quả Toàn diện: 85% tài liệu số được bóc tách tức thì, giảm hơn 90% chi phí và thời gian xử lý so với OCR truyền thống.</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0284C7"/>
                </a:solidFill>
                <a:latin typeface="Arial"/>
              </a:defRPr>
            </a:pPr>
            <a:r>
              <a:t>CHỈ SỐ THỰC NGHIỆM ĐỘNG CƠ</a:t>
            </a:r>
          </a:p>
          <a:p>
            <a:pPr>
              <a:defRPr sz="950">
                <a:solidFill>
                  <a:srgbClr val="1E293B"/>
                </a:solidFill>
                <a:latin typeface="Arial"/>
              </a:defRPr>
            </a:pPr>
            <a:r>
              <a:t>• Tốc độ Fast-Path: 0.28 giây / trang PDF số</a:t>
            </a:r>
            <a:br/>
            <a:r>
              <a:t>• Độ chính xác cấu trúc bảng biểu: Đạt 99.4%</a:t>
            </a:r>
            <a:br/>
            <a:r>
              <a:t>• Độ trễ Vision OCR: ~2.54 giây / trang scan</a:t>
            </a:r>
          </a:p>
        </p:txBody>
      </p:sp>
      <p:sp>
        <p:nvSpPr>
          <p:cNvPr id="12" name="Rectangle 11"/>
          <p:cNvSpPr/>
          <p:nvPr/>
        </p:nvSpPr>
        <p:spPr>
          <a:xfrm>
            <a:off x="4553712" y="1741932"/>
            <a:ext cx="6894576" cy="4151376"/>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hybrid-ocr-engine-architecture.png"/>
          <p:cNvPicPr>
            <a:picLocks noChangeAspect="1"/>
          </p:cNvPicPr>
          <p:nvPr/>
        </p:nvPicPr>
        <p:blipFill>
          <a:blip r:embed="rId2"/>
          <a:stretch>
            <a:fillRect/>
          </a:stretch>
        </p:blipFill>
        <p:spPr>
          <a:xfrm>
            <a:off x="4572000" y="1760220"/>
            <a:ext cx="6858000"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TỐI ƯU BĂNG THÔNG</a:t>
            </a:r>
          </a:p>
          <a:p>
            <a:pPr>
              <a:defRPr sz="2000" b="1">
                <a:solidFill>
                  <a:srgbClr val="0F172A"/>
                </a:solidFill>
                <a:latin typeface="Arial"/>
              </a:defRPr>
            </a:pPr>
            <a:r>
              <a:t>Đường ống Phi máy chủ Hướng sự kiện (Event-Driven Pipeline)</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10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D97706"/>
                </a:solidFill>
                <a:latin typeface="Arial"/>
              </a:defRPr>
            </a:pPr>
            <a:r>
              <a:t>VƯỢT TRẦN 10MB API GATEWAY</a:t>
            </a:r>
          </a:p>
          <a:p>
            <a:pPr>
              <a:lnSpc>
                <a:spcPct val="115000"/>
              </a:lnSpc>
              <a:defRPr sz="950">
                <a:solidFill>
                  <a:srgbClr val="1E293B"/>
                </a:solidFill>
                <a:latin typeface="Arial"/>
              </a:defRPr>
            </a:pPr>
            <a:r>
              <a:t>• S3 Presigned URL: Trình duyệt nhận URL ký bảo mật SigV4, tải trực tiếp tệp nhị phân lên S3 Bucket mà không qua API Gateway.</a:t>
            </a:r>
          </a:p>
          <a:p>
            <a:pPr>
              <a:lnSpc>
                <a:spcPct val="115000"/>
              </a:lnSpc>
              <a:defRPr sz="950">
                <a:solidFill>
                  <a:srgbClr val="1E293B"/>
                </a:solidFill>
                <a:latin typeface="Arial"/>
              </a:defRPr>
            </a:pPr>
            <a:r>
              <a:t>• S3 Event Notification: Sự kiện s3:ObjectCreated tự động kích hoạt hàm AWS Lambda huylam-ocr-processor trong 214 ms.</a:t>
            </a:r>
          </a:p>
          <a:p>
            <a:pPr>
              <a:lnSpc>
                <a:spcPct val="115000"/>
              </a:lnSpc>
              <a:defRPr sz="950">
                <a:solidFill>
                  <a:srgbClr val="1E293B"/>
                </a:solidFill>
                <a:latin typeface="Arial"/>
              </a:defRPr>
            </a:pPr>
            <a:r>
              <a:t>• Xử lý Bất đồng bộ: Hàm Lambda kiểm tra metadata, tạo bản ghi tiến trình trên DynamoDB với trạng thái PROCESSING.</a:t>
            </a:r>
          </a:p>
          <a:p>
            <a:pPr>
              <a:lnSpc>
                <a:spcPct val="115000"/>
              </a:lnSpc>
              <a:defRPr sz="950">
                <a:solidFill>
                  <a:srgbClr val="1E293B"/>
                </a:solidFill>
                <a:latin typeface="Arial"/>
              </a:defRPr>
            </a:pPr>
            <a:r>
              <a:t>• Giải phóng Web Server: Máy chủ web hoàn toàn không phải gánh luồng upload nặng, triệt tiêu 100% lỗi nghẽn I/O.</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16A34A"/>
                </a:solidFill>
                <a:latin typeface="Arial"/>
              </a:defRPr>
            </a:pPr>
            <a:r>
              <a:t>THÔNG SỐ THỰC THI LAMBDA</a:t>
            </a:r>
          </a:p>
          <a:p>
            <a:pPr>
              <a:defRPr sz="950">
                <a:solidFill>
                  <a:srgbClr val="1E293B"/>
                </a:solidFill>
                <a:latin typeface="Arial"/>
              </a:defRPr>
            </a:pPr>
            <a:r>
              <a:t>• Thời gian thực thi: 214.37 ms</a:t>
            </a:r>
            <a:br/>
            <a:r>
              <a:t>• Bộ nhớ tiêu thụ: 88 MB / 128 MB định mức</a:t>
            </a:r>
            <a:br/>
            <a:r>
              <a:t>• Chi phí thực thi: Nằm trọn trong Free Tier (1M reqs)</a:t>
            </a:r>
          </a:p>
        </p:txBody>
      </p:sp>
      <p:sp>
        <p:nvSpPr>
          <p:cNvPr id="12" name="Rectangle 11"/>
          <p:cNvSpPr/>
          <p:nvPr/>
        </p:nvSpPr>
        <p:spPr>
          <a:xfrm>
            <a:off x="4553712" y="1888889"/>
            <a:ext cx="6894576" cy="385746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serverless-event-pipeline.png"/>
          <p:cNvPicPr>
            <a:picLocks noChangeAspect="1"/>
          </p:cNvPicPr>
          <p:nvPr/>
        </p:nvPicPr>
        <p:blipFill>
          <a:blip r:embed="rId2"/>
          <a:stretch>
            <a:fillRect/>
          </a:stretch>
        </p:blipFill>
        <p:spPr>
          <a:xfrm>
            <a:off x="4572000" y="1907177"/>
            <a:ext cx="6858000" cy="382088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THIẾT KẾ DỮ LIỆU</a:t>
            </a:r>
          </a:p>
          <a:p>
            <a:pPr>
              <a:defRPr sz="2000" b="1">
                <a:solidFill>
                  <a:srgbClr val="0F172A"/>
                </a:solidFill>
                <a:latin typeface="Arial"/>
              </a:defRPr>
            </a:pPr>
            <a:r>
              <a:t>Mô hình Cơ sở Dữ liệu Đa công nghệ (Polyglot Persistence &amp; ERD)</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11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0284C7"/>
                </a:solidFill>
                <a:latin typeface="Arial"/>
              </a:defRPr>
            </a:pPr>
            <a:r>
              <a:t>3 TẦNG LƯU TRỮ CHUYÊN BIỆT</a:t>
            </a:r>
          </a:p>
          <a:p>
            <a:pPr>
              <a:lnSpc>
                <a:spcPct val="115000"/>
              </a:lnSpc>
              <a:defRPr sz="950">
                <a:solidFill>
                  <a:srgbClr val="1E293B"/>
                </a:solidFill>
                <a:latin typeface="Arial"/>
              </a:defRPr>
            </a:pPr>
            <a:r>
              <a:t>• DynamoDB NoSQL: Bảng huylam-ocr-jobs (On-Demand). PK: job_id (UUID), SK: created_at. Lưu vết trạng thái phi máy chủ với độ trễ &lt; 8 ms.</a:t>
            </a:r>
          </a:p>
          <a:p>
            <a:pPr>
              <a:lnSpc>
                <a:spcPct val="115000"/>
              </a:lnSpc>
              <a:defRPr sz="950">
                <a:solidFill>
                  <a:srgbClr val="1E293B"/>
                </a:solidFill>
                <a:latin typeface="Arial"/>
              </a:defRPr>
            </a:pPr>
            <a:r>
              <a:t>• Amazon S3 Object Storage: Bucket huylam-ocr-documents: thư mục uploads/ lưu tệp gốc; thư mục outputs/ lưu MD, DOCX, PDF xuất bản.</a:t>
            </a:r>
          </a:p>
          <a:p>
            <a:pPr>
              <a:lnSpc>
                <a:spcPct val="115000"/>
              </a:lnSpc>
              <a:defRPr sz="950">
                <a:solidFill>
                  <a:srgbClr val="1E293B"/>
                </a:solidFill>
                <a:latin typeface="Arial"/>
              </a:defRPr>
            </a:pPr>
            <a:r>
              <a:t>• Relational SQL Schema: 5 bảng quan hệ chuẩn hóa (users, documents, user_settings, api_keys, user_daily_usage) với ràng buộc CASCADE.</a:t>
            </a:r>
          </a:p>
          <a:p>
            <a:pPr>
              <a:lnSpc>
                <a:spcPct val="115000"/>
              </a:lnSpc>
              <a:defRPr sz="950">
                <a:solidFill>
                  <a:srgbClr val="1E293B"/>
                </a:solidFill>
                <a:latin typeface="Arial"/>
              </a:defRPr>
            </a:pPr>
            <a:r>
              <a:t>• Toàn vẹn Dữ liệu: Phân định rõ ranh giới giữa dữ liệu giao dịch và lưu trữ tệp lớn, tối ưu hóa triệt để chi phí I/O.</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232F3E"/>
                </a:solidFill>
                <a:latin typeface="Arial"/>
              </a:defRPr>
            </a:pPr>
            <a:r>
              <a:t>KIỂM CHỨNG LIÊN KẾT NGOẠI (FK)</a:t>
            </a:r>
          </a:p>
          <a:p>
            <a:pPr>
              <a:defRPr sz="950">
                <a:solidFill>
                  <a:srgbClr val="1E293B"/>
                </a:solidFill>
                <a:latin typeface="Arial"/>
              </a:defRPr>
            </a:pPr>
            <a:r>
              <a:t>• 100% đường liên kết FK bo viền không cắt chữ</a:t>
            </a:r>
            <a:br/>
            <a:r>
              <a:t>• Ràng buộc toàn vẹn ON DELETE CASCADE chuẩn mực</a:t>
            </a:r>
            <a:br/>
            <a:r>
              <a:t>• Hỗ trợ quản trị xoay vòng API Keys an toàn</a:t>
            </a:r>
          </a:p>
        </p:txBody>
      </p:sp>
      <p:sp>
        <p:nvSpPr>
          <p:cNvPr id="12" name="Rectangle 11"/>
          <p:cNvSpPr/>
          <p:nvPr/>
        </p:nvSpPr>
        <p:spPr>
          <a:xfrm>
            <a:off x="4553712" y="1723884"/>
            <a:ext cx="6894576" cy="4187470"/>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database-polyglot-erd.png"/>
          <p:cNvPicPr>
            <a:picLocks noChangeAspect="1"/>
          </p:cNvPicPr>
          <p:nvPr/>
        </p:nvPicPr>
        <p:blipFill>
          <a:blip r:embed="rId2"/>
          <a:stretch>
            <a:fillRect/>
          </a:stretch>
        </p:blipFill>
        <p:spPr>
          <a:xfrm>
            <a:off x="4572000" y="1742172"/>
            <a:ext cx="6858000" cy="41508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LUỒNG DỮ LIỆU</a:t>
            </a:r>
          </a:p>
          <a:p>
            <a:pPr>
              <a:defRPr sz="2000" b="1">
                <a:solidFill>
                  <a:srgbClr val="0F172A"/>
                </a:solidFill>
                <a:latin typeface="Arial"/>
              </a:defRPr>
            </a:pPr>
            <a:r>
              <a:t>Sơ đồ Tuần tự Xử lý Toàn trình Hướng sự kiện (Sequence Event Flow)</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12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16A34A"/>
                </a:solidFill>
                <a:latin typeface="Arial"/>
              </a:defRPr>
            </a:pPr>
            <a:r>
              <a:t>11 BƯỚC XỬ LÝ TOÀN TRÌNH</a:t>
            </a:r>
          </a:p>
          <a:p>
            <a:pPr>
              <a:lnSpc>
                <a:spcPct val="115000"/>
              </a:lnSpc>
              <a:defRPr sz="950">
                <a:solidFill>
                  <a:srgbClr val="1E293B"/>
                </a:solidFill>
                <a:latin typeface="Arial"/>
              </a:defRPr>
            </a:pPr>
            <a:r>
              <a:t>• Bước 1 — 3: Ingestion: Web Studio xin URL ký SigV4, tải nhị phân trực tiếp lên S3 qua HTTP PUT mà không qua EC2.</a:t>
            </a:r>
          </a:p>
          <a:p>
            <a:pPr>
              <a:lnSpc>
                <a:spcPct val="115000"/>
              </a:lnSpc>
              <a:defRPr sz="950">
                <a:solidFill>
                  <a:srgbClr val="1E293B"/>
                </a:solidFill>
                <a:latin typeface="Arial"/>
              </a:defRPr>
            </a:pPr>
            <a:r>
              <a:t>• Bước 4 — 6: Trigger: S3 Notification kích hoạt AWS Lambda (214 ms), ghi DynamoDB Jobs và gọi bóc tách.</a:t>
            </a:r>
          </a:p>
          <a:p>
            <a:pPr>
              <a:lnSpc>
                <a:spcPct val="115000"/>
              </a:lnSpc>
              <a:defRPr sz="950">
                <a:solidFill>
                  <a:srgbClr val="1E293B"/>
                </a:solidFill>
                <a:latin typeface="Arial"/>
              </a:defRPr>
            </a:pPr>
            <a:r>
              <a:t>• Bước 7: ALT Flow: Tự động rẽ nhánh: Fast-Path Native (0.28s) cho PDF số hoặc Vision OCR (Kaggle GPU) cho scan.</a:t>
            </a:r>
          </a:p>
          <a:p>
            <a:pPr>
              <a:lnSpc>
                <a:spcPct val="115000"/>
              </a:lnSpc>
              <a:defRPr sz="950">
                <a:solidFill>
                  <a:srgbClr val="1E293B"/>
                </a:solidFill>
                <a:latin typeface="Arial"/>
              </a:defRPr>
            </a:pPr>
            <a:r>
              <a:t>• Bước 8 — 9: Translate: Dịch thuật qua LLM và kết xuất đa định dạng ghi vào outputs/ trên S3.</a:t>
            </a:r>
          </a:p>
          <a:p>
            <a:pPr>
              <a:lnSpc>
                <a:spcPct val="115000"/>
              </a:lnSpc>
              <a:defRPr sz="950">
                <a:solidFill>
                  <a:srgbClr val="1E293B"/>
                </a:solidFill>
                <a:latin typeface="Arial"/>
              </a:defRPr>
            </a:pPr>
            <a:r>
              <a:t>• Bước 10 — 11: Render: Cập nhật DynamoDB COMPLETED và giao diện Web Studio hiển thị song ngữ tức thì.</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0284C7"/>
                </a:solidFill>
                <a:latin typeface="Arial"/>
              </a:defRPr>
            </a:pPr>
            <a:r>
              <a:t>ĐO KIỂM TELEMETRY TOÀN TRÌNH</a:t>
            </a:r>
          </a:p>
          <a:p>
            <a:pPr>
              <a:defRPr sz="950">
                <a:solidFill>
                  <a:srgbClr val="1E293B"/>
                </a:solidFill>
                <a:latin typeface="Arial"/>
              </a:defRPr>
            </a:pPr>
            <a:r>
              <a:t>• Thời gian kích hoạt Lambda: 214.37 ms</a:t>
            </a:r>
            <a:br/>
            <a:r>
              <a:t>• Ghi nhận DynamoDB state: &lt; 8 ms</a:t>
            </a:r>
            <a:br/>
            <a:r>
              <a:t>• Tổng thời gian phản hồi: Gần như tức thì cho người dùng</a:t>
            </a:r>
          </a:p>
        </p:txBody>
      </p:sp>
      <p:sp>
        <p:nvSpPr>
          <p:cNvPr id="12" name="Rectangle 11"/>
          <p:cNvSpPr/>
          <p:nvPr/>
        </p:nvSpPr>
        <p:spPr>
          <a:xfrm>
            <a:off x="4553712" y="1787652"/>
            <a:ext cx="6894576" cy="4059935"/>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sequence-event-flow.png"/>
          <p:cNvPicPr>
            <a:picLocks noChangeAspect="1"/>
          </p:cNvPicPr>
          <p:nvPr/>
        </p:nvPicPr>
        <p:blipFill>
          <a:blip r:embed="rId2"/>
          <a:stretch>
            <a:fillRect/>
          </a:stretch>
        </p:blipFill>
        <p:spPr>
          <a:xfrm>
            <a:off x="4572000" y="1805940"/>
            <a:ext cx="6858000" cy="402335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TRÍ TUỆ NHÂN TẠO</a:t>
            </a:r>
          </a:p>
          <a:p>
            <a:pPr>
              <a:defRPr sz="2000" b="1">
                <a:solidFill>
                  <a:srgbClr val="0F172A"/>
                </a:solidFill>
                <a:latin typeface="Arial"/>
              </a:defRPr>
            </a:pPr>
            <a:r>
              <a:t>Module Dịch thuật Thuật ngữ Kỹ thuật &amp; Key Tour Manager Chống Nghẽn</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13 / 20</a:t>
            </a:r>
          </a:p>
        </p:txBody>
      </p:sp>
      <p:sp>
        <p:nvSpPr>
          <p:cNvPr id="6" name="Rectangle 5"/>
          <p:cNvSpPr/>
          <p:nvPr/>
        </p:nvSpPr>
        <p:spPr>
          <a:xfrm>
            <a:off x="731520" y="1234440"/>
            <a:ext cx="5212080" cy="5166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5212080" cy="54864"/>
          </a:xfrm>
          <a:prstGeom prst="rect">
            <a:avLst/>
          </a:prstGeom>
          <a:solidFill>
            <a:srgbClr val="7E22CE"/>
          </a:solidFill>
          <a:ln>
            <a:solidFill>
              <a:srgbClr val="7E22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4846320" cy="4800600"/>
          </a:xfrm>
          <a:prstGeom prst="rect">
            <a:avLst/>
          </a:prstGeom>
          <a:noFill/>
        </p:spPr>
        <p:txBody>
          <a:bodyPr wrap="square">
            <a:spAutoFit/>
          </a:bodyPr>
          <a:lstStyle/>
          <a:p>
            <a:pPr>
              <a:defRPr sz="1300" b="1">
                <a:solidFill>
                  <a:srgbClr val="7E22CE"/>
                </a:solidFill>
                <a:latin typeface="Arial"/>
              </a:defRPr>
            </a:pPr>
            <a:r>
              <a:t>THUẬT TOÁN DỊCH THUẬT KỸ THUẬT CHUYÊN SÂU</a:t>
            </a:r>
          </a:p>
          <a:p>
            <a:pPr>
              <a:lnSpc>
                <a:spcPct val="115000"/>
              </a:lnSpc>
              <a:defRPr sz="1050">
                <a:solidFill>
                  <a:srgbClr val="1E293B"/>
                </a:solidFill>
                <a:latin typeface="Arial"/>
              </a:defRPr>
            </a:pPr>
            <a:r>
              <a:t>• Bảo toàn Thuật ngữ AWS: Prompt Engineering chuyên sâu bảo toàn nguyên vẹn tên dịch vụ AWS, mã lệnh bash/shell, tham số cấu hình và cú pháp KaTeX.</a:t>
            </a:r>
          </a:p>
          <a:p>
            <a:pPr>
              <a:lnSpc>
                <a:spcPct val="115000"/>
              </a:lnSpc>
              <a:defRPr sz="1050">
                <a:solidFill>
                  <a:srgbClr val="1E293B"/>
                </a:solidFill>
                <a:latin typeface="Arial"/>
              </a:defRPr>
            </a:pPr>
            <a:r>
              <a:t>• Dịch thuật Bảng biểu Toàn vẹn: Dịch chính xác từng ô trong bảng Markdown mà không phá vỡ liên kết dòng và cột.</a:t>
            </a:r>
          </a:p>
          <a:p>
            <a:pPr>
              <a:lnSpc>
                <a:spcPct val="115000"/>
              </a:lnSpc>
              <a:defRPr sz="1050">
                <a:solidFill>
                  <a:srgbClr val="1E293B"/>
                </a:solidFill>
                <a:latin typeface="Arial"/>
              </a:defRPr>
            </a:pPr>
            <a:r>
              <a:t>• Phân đoạn Ngữ cảnh Thông minh: Tự động phân đoạn (Chunking) theo ranh giới đoạn văn logic, đảm bảo mạch văn dịch trôi chảy và tự nhiên.</a:t>
            </a:r>
          </a:p>
          <a:p>
            <a:pPr>
              <a:lnSpc>
                <a:spcPct val="115000"/>
              </a:lnSpc>
              <a:defRPr sz="1050">
                <a:solidFill>
                  <a:srgbClr val="1E293B"/>
                </a:solidFill>
                <a:latin typeface="Arial"/>
              </a:defRPr>
            </a:pPr>
            <a:r>
              <a:t>• Hiệu năng Thực tế: Thời gian dịch trung bình chỉ 2.80 giây cho một trang tài liệu đầy đủ nội dung chuyên môn.</a:t>
            </a:r>
          </a:p>
        </p:txBody>
      </p:sp>
      <p:sp>
        <p:nvSpPr>
          <p:cNvPr id="9" name="Rectangle 8"/>
          <p:cNvSpPr/>
          <p:nvPr/>
        </p:nvSpPr>
        <p:spPr>
          <a:xfrm>
            <a:off x="6217920" y="1234440"/>
            <a:ext cx="5212080" cy="516636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34440"/>
            <a:ext cx="521208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17320"/>
            <a:ext cx="4846320" cy="4800600"/>
          </a:xfrm>
          <a:prstGeom prst="rect">
            <a:avLst/>
          </a:prstGeom>
          <a:noFill/>
        </p:spPr>
        <p:txBody>
          <a:bodyPr wrap="square">
            <a:spAutoFit/>
          </a:bodyPr>
          <a:lstStyle/>
          <a:p>
            <a:pPr>
              <a:defRPr sz="1300" b="1">
                <a:solidFill>
                  <a:srgbClr val="D97706"/>
                </a:solidFill>
                <a:latin typeface="Arial"/>
              </a:defRPr>
            </a:pPr>
            <a:r>
              <a:t>CƠ CHẾ XOAY VÒNG KHÓA (KEY TOUR MANAGER)</a:t>
            </a:r>
          </a:p>
          <a:p>
            <a:pPr>
              <a:lnSpc>
                <a:spcPct val="115000"/>
              </a:lnSpc>
              <a:defRPr sz="1050">
                <a:solidFill>
                  <a:srgbClr val="1E293B"/>
                </a:solidFill>
                <a:latin typeface="Arial"/>
              </a:defRPr>
            </a:pPr>
            <a:r>
              <a:t>• Phân phối Tải Round-Robin: Xoay vòng thông minh qua danh sách API keys của nhiều nhà cung cấp (Kaggle GPU, Google Gemini, Groq).</a:t>
            </a:r>
          </a:p>
          <a:p>
            <a:pPr>
              <a:lnSpc>
                <a:spcPct val="115000"/>
              </a:lnSpc>
              <a:defRPr sz="1050">
                <a:solidFill>
                  <a:srgbClr val="1E293B"/>
                </a:solidFill>
                <a:latin typeface="Arial"/>
              </a:defRPr>
            </a:pPr>
            <a:r>
              <a:t>• Chống nghẽn Rate Limit: Theo dõi số lượt gọi usage_count và tự động chuyển sang key kế tiếp khi đạt ngưỡng tải.</a:t>
            </a:r>
          </a:p>
          <a:p>
            <a:pPr>
              <a:lnSpc>
                <a:spcPct val="115000"/>
              </a:lnSpc>
              <a:defRPr sz="1050">
                <a:solidFill>
                  <a:srgbClr val="1E293B"/>
                </a:solidFill>
                <a:latin typeface="Arial"/>
              </a:defRPr>
            </a:pPr>
            <a:r>
              <a:t>• Exponential Backoff: Tự động lùi thời gian thử lại khi gặp mã lỗi 429 Too Many Requests, đảm bảo tỷ lệ gọi thành công 99.99%.</a:t>
            </a:r>
          </a:p>
          <a:p>
            <a:pPr>
              <a:lnSpc>
                <a:spcPct val="115000"/>
              </a:lnSpc>
              <a:defRPr sz="1050">
                <a:solidFill>
                  <a:srgbClr val="1E293B"/>
                </a:solidFill>
                <a:latin typeface="Arial"/>
              </a:defRPr>
            </a:pPr>
            <a:r>
              <a:t>• Quản trị Động Không Downtime: Cho phép thêm, xóa, bật/tắt khóa trực tiếp từ bảng điều khiển quản trị mà không cần khởi động lại máy chủ.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XUẤT BẢN TÀI LIỆU</a:t>
            </a:r>
          </a:p>
          <a:p>
            <a:pPr>
              <a:defRPr sz="2000" b="1">
                <a:solidFill>
                  <a:srgbClr val="0F172A"/>
                </a:solidFill>
                <a:latin typeface="Arial"/>
              </a:defRPr>
            </a:pPr>
            <a:r>
              <a:t>Bộ Xuất bản Đa định dạng Chuẩn Học thuật (Multi-Format Exporters)</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14 / 20</a:t>
            </a:r>
          </a:p>
        </p:txBody>
      </p:sp>
      <p:sp>
        <p:nvSpPr>
          <p:cNvPr id="6" name="Rectangle 5"/>
          <p:cNvSpPr/>
          <p:nvPr/>
        </p:nvSpPr>
        <p:spPr>
          <a:xfrm>
            <a:off x="731520" y="1234440"/>
            <a:ext cx="3413455" cy="3520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413455"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3093415" cy="3246120"/>
          </a:xfrm>
          <a:prstGeom prst="rect">
            <a:avLst/>
          </a:prstGeom>
          <a:noFill/>
        </p:spPr>
        <p:txBody>
          <a:bodyPr wrap="square">
            <a:spAutoFit/>
          </a:bodyPr>
          <a:lstStyle/>
          <a:p>
            <a:pPr>
              <a:defRPr sz="1200" b="1">
                <a:solidFill>
                  <a:srgbClr val="232F3E"/>
                </a:solidFill>
                <a:latin typeface="Arial"/>
              </a:defRPr>
            </a:pPr>
            <a:r>
              <a:t>MARKDOWN EXPORTER (.md)</a:t>
            </a:r>
          </a:p>
          <a:p>
            <a:pPr>
              <a:defRPr sz="950">
                <a:solidFill>
                  <a:srgbClr val="1E293B"/>
                </a:solidFill>
                <a:latin typeface="Arial"/>
              </a:defRPr>
            </a:pPr>
            <a:r>
              <a:t>Chuẩn hóa GitHub-Flavored Markdown</a:t>
            </a:r>
          </a:p>
          <a:p>
            <a:pPr>
              <a:defRPr sz="950">
                <a:solidFill>
                  <a:srgbClr val="1E293B"/>
                </a:solidFill>
                <a:latin typeface="Arial"/>
              </a:defRPr>
            </a:pPr>
            <a:r>
              <a:t>• Hỗ trợ công thức toán học KaTeX ($...$ và $$...$$).</a:t>
            </a:r>
          </a:p>
          <a:p>
            <a:pPr>
              <a:defRPr sz="950">
                <a:solidFill>
                  <a:srgbClr val="1E293B"/>
                </a:solidFill>
                <a:latin typeface="Arial"/>
              </a:defRPr>
            </a:pPr>
            <a:r>
              <a:t>• Bảo toàn 100% bảng biểu Markdown chuẩn căn lề.</a:t>
            </a:r>
          </a:p>
          <a:p>
            <a:pPr>
              <a:defRPr sz="950">
                <a:solidFill>
                  <a:srgbClr val="1E293B"/>
                </a:solidFill>
                <a:latin typeface="Arial"/>
              </a:defRPr>
            </a:pPr>
            <a:r>
              <a:t>• Nhúng hình ảnh sơ đồ kỹ thuật và khối mã nguồn có định dạng cú pháp chuyên nghiệp.</a:t>
            </a:r>
          </a:p>
        </p:txBody>
      </p:sp>
      <p:sp>
        <p:nvSpPr>
          <p:cNvPr id="9" name="Rectangle 8"/>
          <p:cNvSpPr/>
          <p:nvPr/>
        </p:nvSpPr>
        <p:spPr>
          <a:xfrm>
            <a:off x="731520" y="4937760"/>
            <a:ext cx="3413455" cy="146304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937760"/>
            <a:ext cx="3413455"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29200"/>
            <a:ext cx="3093415" cy="1280160"/>
          </a:xfrm>
          <a:prstGeom prst="rect">
            <a:avLst/>
          </a:prstGeom>
          <a:noFill/>
        </p:spPr>
        <p:txBody>
          <a:bodyPr wrap="square">
            <a:spAutoFit/>
          </a:bodyPr>
          <a:lstStyle/>
          <a:p>
            <a:pPr>
              <a:defRPr sz="1100" b="1">
                <a:solidFill>
                  <a:srgbClr val="232F3E"/>
                </a:solidFill>
                <a:latin typeface="Arial"/>
              </a:defRPr>
            </a:pPr>
            <a:r>
              <a:t>TIÊU CHUẨN ĐẶC TẢ</a:t>
            </a:r>
          </a:p>
          <a:p>
            <a:pPr>
              <a:defRPr sz="950">
                <a:solidFill>
                  <a:srgbClr val="1E293B"/>
                </a:solidFill>
                <a:latin typeface="Arial"/>
              </a:defRPr>
            </a:pPr>
            <a:r>
              <a:t>• Đặc tả: UTF-8 Encoding, GFM Specification</a:t>
            </a:r>
            <a:br/>
            <a:r>
              <a:t>• Tương thích 100% nộp lưu chiểu và in ấn</a:t>
            </a:r>
          </a:p>
        </p:txBody>
      </p:sp>
      <p:sp>
        <p:nvSpPr>
          <p:cNvPr id="12" name="Rectangle 11"/>
          <p:cNvSpPr/>
          <p:nvPr/>
        </p:nvSpPr>
        <p:spPr>
          <a:xfrm>
            <a:off x="4389120" y="1234440"/>
            <a:ext cx="3413455" cy="3520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234440"/>
            <a:ext cx="34134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371600"/>
            <a:ext cx="3093415" cy="3246120"/>
          </a:xfrm>
          <a:prstGeom prst="rect">
            <a:avLst/>
          </a:prstGeom>
          <a:noFill/>
        </p:spPr>
        <p:txBody>
          <a:bodyPr wrap="square">
            <a:spAutoFit/>
          </a:bodyPr>
          <a:lstStyle/>
          <a:p>
            <a:pPr>
              <a:defRPr sz="1200" b="1">
                <a:solidFill>
                  <a:srgbClr val="0284C7"/>
                </a:solidFill>
                <a:latin typeface="Arial"/>
              </a:defRPr>
            </a:pPr>
            <a:r>
              <a:t>MICROSOFT WORD (.docx)</a:t>
            </a:r>
          </a:p>
          <a:p>
            <a:pPr>
              <a:defRPr sz="950">
                <a:solidFill>
                  <a:srgbClr val="1E293B"/>
                </a:solidFill>
                <a:latin typeface="Arial"/>
              </a:defRPr>
            </a:pPr>
            <a:r>
              <a:t>Monochrome Academic Style (Chuẩn In ấn)</a:t>
            </a:r>
          </a:p>
          <a:p>
            <a:pPr>
              <a:defRPr sz="950">
                <a:solidFill>
                  <a:srgbClr val="1E293B"/>
                </a:solidFill>
                <a:latin typeface="Arial"/>
              </a:defRPr>
            </a:pPr>
            <a:r>
              <a:t>• Cỡ chữ Times New Roman 13pt, dãn dòng 1.2pt chuẩn mực.</a:t>
            </a:r>
          </a:p>
          <a:p>
            <a:pPr>
              <a:defRPr sz="950">
                <a:solidFill>
                  <a:srgbClr val="1E293B"/>
                </a:solidFill>
                <a:latin typeface="Arial"/>
              </a:defRPr>
            </a:pPr>
            <a:r>
              <a:t>• Bảng biểu viền đen 0.5pt, tiêu đề in đậm nền trong suốt.</a:t>
            </a:r>
          </a:p>
          <a:p>
            <a:pPr>
              <a:defRPr sz="950">
                <a:solidFill>
                  <a:srgbClr val="1E293B"/>
                </a:solidFill>
                <a:latin typeface="Arial"/>
              </a:defRPr>
            </a:pPr>
            <a:r>
              <a:t>• Căn đều 2 lề (Justified), thụt đầu dòng 1.27 cm.</a:t>
            </a:r>
          </a:p>
          <a:p>
            <a:pPr>
              <a:defRPr sz="950">
                <a:solidFill>
                  <a:srgbClr val="1E293B"/>
                </a:solidFill>
                <a:latin typeface="Arial"/>
              </a:defRPr>
            </a:pPr>
            <a:r>
              <a:t>• Siêu liên kết (hyperlinks) giữ nguyên màu xanh bấm được.</a:t>
            </a:r>
          </a:p>
        </p:txBody>
      </p:sp>
      <p:sp>
        <p:nvSpPr>
          <p:cNvPr id="15" name="Rectangle 14"/>
          <p:cNvSpPr/>
          <p:nvPr/>
        </p:nvSpPr>
        <p:spPr>
          <a:xfrm>
            <a:off x="4389120" y="4937760"/>
            <a:ext cx="3413455" cy="146304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4937760"/>
            <a:ext cx="34134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5029200"/>
            <a:ext cx="3093415" cy="1280160"/>
          </a:xfrm>
          <a:prstGeom prst="rect">
            <a:avLst/>
          </a:prstGeom>
          <a:noFill/>
        </p:spPr>
        <p:txBody>
          <a:bodyPr wrap="square">
            <a:spAutoFit/>
          </a:bodyPr>
          <a:lstStyle/>
          <a:p>
            <a:pPr>
              <a:defRPr sz="1100" b="1">
                <a:solidFill>
                  <a:srgbClr val="0284C7"/>
                </a:solidFill>
                <a:latin typeface="Arial"/>
              </a:defRPr>
            </a:pPr>
            <a:r>
              <a:t>TIÊU CHUẨN ĐẶC TẢ</a:t>
            </a:r>
          </a:p>
          <a:p>
            <a:pPr>
              <a:defRPr sz="950">
                <a:solidFill>
                  <a:srgbClr val="1E293B"/>
                </a:solidFill>
                <a:latin typeface="Arial"/>
              </a:defRPr>
            </a:pPr>
            <a:r>
              <a:t>• Đặc tả: Biểu mẫu TTTN-06 HUCE, 0.15s Export</a:t>
            </a:r>
            <a:br/>
            <a:r>
              <a:t>• Tương thích 100% nộp lưu chiểu và in ấn</a:t>
            </a:r>
          </a:p>
        </p:txBody>
      </p:sp>
      <p:sp>
        <p:nvSpPr>
          <p:cNvPr id="18" name="Rectangle 17"/>
          <p:cNvSpPr/>
          <p:nvPr/>
        </p:nvSpPr>
        <p:spPr>
          <a:xfrm>
            <a:off x="8046720" y="1234440"/>
            <a:ext cx="3413455" cy="3520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234440"/>
            <a:ext cx="3413455"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371600"/>
            <a:ext cx="3093415" cy="3246120"/>
          </a:xfrm>
          <a:prstGeom prst="rect">
            <a:avLst/>
          </a:prstGeom>
          <a:noFill/>
        </p:spPr>
        <p:txBody>
          <a:bodyPr wrap="square">
            <a:spAutoFit/>
          </a:bodyPr>
          <a:lstStyle/>
          <a:p>
            <a:pPr>
              <a:defRPr sz="1200" b="1">
                <a:solidFill>
                  <a:srgbClr val="D97706"/>
                </a:solidFill>
                <a:latin typeface="Arial"/>
              </a:defRPr>
            </a:pPr>
            <a:r>
              <a:t>ADOBE PDF EXPORTER (.pdf)</a:t>
            </a:r>
          </a:p>
          <a:p>
            <a:pPr>
              <a:defRPr sz="950">
                <a:solidFill>
                  <a:srgbClr val="1E293B"/>
                </a:solidFill>
                <a:latin typeface="Arial"/>
              </a:defRPr>
            </a:pPr>
            <a:r>
              <a:t>Chuẩn Nộp Lưu chiểu (&lt; 10 MB)</a:t>
            </a:r>
          </a:p>
          <a:p>
            <a:pPr>
              <a:defRPr sz="950">
                <a:solidFill>
                  <a:srgbClr val="1E293B"/>
                </a:solidFill>
                <a:latin typeface="Arial"/>
              </a:defRPr>
            </a:pPr>
            <a:r>
              <a:t>• Tái nén ảnh thông minh PyMuPDF chất lượng cao (quality=92, 180 DPI).</a:t>
            </a:r>
          </a:p>
          <a:p>
            <a:pPr>
              <a:defRPr sz="950">
                <a:solidFill>
                  <a:srgbClr val="1E293B"/>
                </a:solidFill>
                <a:latin typeface="Arial"/>
              </a:defRPr>
            </a:pPr>
            <a:r>
              <a:t>• Giảm dung lượng từ 10.36 MB xuống 5.11 MB (-50.7%).</a:t>
            </a:r>
          </a:p>
          <a:p>
            <a:pPr>
              <a:defRPr sz="950">
                <a:solidFill>
                  <a:srgbClr val="1E293B"/>
                </a:solidFill>
                <a:latin typeface="Arial"/>
              </a:defRPr>
            </a:pPr>
            <a:r>
              <a:t>• Bảo toàn 100% 42 trang in và 94 siêu liên kết hoạt động hoàn hảo.</a:t>
            </a:r>
          </a:p>
        </p:txBody>
      </p:sp>
      <p:sp>
        <p:nvSpPr>
          <p:cNvPr id="21" name="Rectangle 20"/>
          <p:cNvSpPr/>
          <p:nvPr/>
        </p:nvSpPr>
        <p:spPr>
          <a:xfrm>
            <a:off x="8046720" y="4937760"/>
            <a:ext cx="3413455" cy="146304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4937760"/>
            <a:ext cx="3413455"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5029200"/>
            <a:ext cx="3093415" cy="1280160"/>
          </a:xfrm>
          <a:prstGeom prst="rect">
            <a:avLst/>
          </a:prstGeom>
          <a:noFill/>
        </p:spPr>
        <p:txBody>
          <a:bodyPr wrap="square">
            <a:spAutoFit/>
          </a:bodyPr>
          <a:lstStyle/>
          <a:p>
            <a:pPr>
              <a:defRPr sz="1100" b="1">
                <a:solidFill>
                  <a:srgbClr val="D97706"/>
                </a:solidFill>
                <a:latin typeface="Arial"/>
              </a:defRPr>
            </a:pPr>
            <a:r>
              <a:t>TIÊU CHUẨN ĐẶC TẢ</a:t>
            </a:r>
          </a:p>
          <a:p>
            <a:pPr>
              <a:defRPr sz="950">
                <a:solidFill>
                  <a:srgbClr val="1E293B"/>
                </a:solidFill>
                <a:latin typeface="Arial"/>
              </a:defRPr>
            </a:pPr>
            <a:r>
              <a:t>• Đặc tả: 5.11 MB / 42 trang, Thỏa mãn trần 10MB</a:t>
            </a:r>
            <a:br/>
            <a:r>
              <a:t>• Tương thích 100% nộp lưu chiểu và in ấn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KIỂM CHỨNG ỨNG DỤNG</a:t>
            </a:r>
          </a:p>
          <a:p>
            <a:pPr>
              <a:defRPr sz="2000" b="1">
                <a:solidFill>
                  <a:srgbClr val="0F172A"/>
                </a:solidFill>
                <a:latin typeface="Arial"/>
              </a:defRPr>
            </a:pPr>
            <a:r>
              <a:t>Giao diện Web Studio Thực tế &amp; Trình Soạn thảo Đối chiếu Song ngữ</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15 / 20</a:t>
            </a:r>
          </a:p>
        </p:txBody>
      </p:sp>
      <p:sp>
        <p:nvSpPr>
          <p:cNvPr id="6" name="Rectangle 5"/>
          <p:cNvSpPr/>
          <p:nvPr/>
        </p:nvSpPr>
        <p:spPr>
          <a:xfrm>
            <a:off x="713232" y="1684782"/>
            <a:ext cx="6803136" cy="4265676"/>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studio-cv-extracted-translated.png"/>
          <p:cNvPicPr>
            <a:picLocks noChangeAspect="1"/>
          </p:cNvPicPr>
          <p:nvPr/>
        </p:nvPicPr>
        <p:blipFill>
          <a:blip r:embed="rId2"/>
          <a:stretch>
            <a:fillRect/>
          </a:stretch>
        </p:blipFill>
        <p:spPr>
          <a:xfrm>
            <a:off x="731520" y="1703070"/>
            <a:ext cx="6766560" cy="4229100"/>
          </a:xfrm>
          <a:prstGeom prst="rect">
            <a:avLst/>
          </a:prstGeom>
        </p:spPr>
      </p:pic>
      <p:sp>
        <p:nvSpPr>
          <p:cNvPr id="8" name="Rectangle 7"/>
          <p:cNvSpPr/>
          <p:nvPr/>
        </p:nvSpPr>
        <p:spPr>
          <a:xfrm>
            <a:off x="777240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23444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371600"/>
            <a:ext cx="3291840" cy="3566160"/>
          </a:xfrm>
          <a:prstGeom prst="rect">
            <a:avLst/>
          </a:prstGeom>
          <a:noFill/>
        </p:spPr>
        <p:txBody>
          <a:bodyPr wrap="square">
            <a:spAutoFit/>
          </a:bodyPr>
          <a:lstStyle/>
          <a:p>
            <a:pPr>
              <a:defRPr sz="1200" b="1">
                <a:solidFill>
                  <a:srgbClr val="0284C7"/>
                </a:solidFill>
                <a:latin typeface="Arial"/>
              </a:defRPr>
            </a:pPr>
            <a:r>
              <a:t>TÍNH NĂNG NỔI BẬT TRÊN WEB STUDIO</a:t>
            </a:r>
          </a:p>
          <a:p>
            <a:pPr>
              <a:lnSpc>
                <a:spcPct val="115000"/>
              </a:lnSpc>
              <a:defRPr sz="950">
                <a:solidFill>
                  <a:srgbClr val="1E293B"/>
                </a:solidFill>
                <a:latin typeface="Arial"/>
              </a:defRPr>
            </a:pPr>
            <a:r>
              <a:t>• Kéo thả Trực quan: Hỗ trợ kéo thả PDF, PNG, JPG lên tới 50 MB.</a:t>
            </a:r>
          </a:p>
          <a:p>
            <a:pPr>
              <a:lnSpc>
                <a:spcPct val="115000"/>
              </a:lnSpc>
              <a:defRPr sz="950">
                <a:solidFill>
                  <a:srgbClr val="1E293B"/>
                </a:solidFill>
                <a:latin typeface="Arial"/>
              </a:defRPr>
            </a:pPr>
            <a:r>
              <a:t>• Tùy chọn Chế độ Xử lý: Tự động phân loại hoặc ép buộc Fast-Path / Vision OCR.</a:t>
            </a:r>
          </a:p>
          <a:p>
            <a:pPr>
              <a:lnSpc>
                <a:spcPct val="115000"/>
              </a:lnSpc>
              <a:defRPr sz="950">
                <a:solidFill>
                  <a:srgbClr val="1E293B"/>
                </a:solidFill>
                <a:latin typeface="Arial"/>
              </a:defRPr>
            </a:pPr>
            <a:r>
              <a:t>• Bilingual Side-by-Side: Trình soạn thảo song ngữ cho phép đọc văn bản gốc bên trái và bản dịch tiếng Việt bên phải song song.</a:t>
            </a:r>
          </a:p>
          <a:p>
            <a:pPr>
              <a:lnSpc>
                <a:spcPct val="115000"/>
              </a:lnSpc>
              <a:defRPr sz="950">
                <a:solidFill>
                  <a:srgbClr val="1E293B"/>
                </a:solidFill>
                <a:latin typeface="Arial"/>
              </a:defRPr>
            </a:pPr>
            <a:r>
              <a:t>• Xem trước Thời gian thực: Xem ngay kết quả định dạng và tải về Word, PDF tức thì chỉ với một cú nhấp chuột.</a:t>
            </a:r>
          </a:p>
        </p:txBody>
      </p:sp>
      <p:sp>
        <p:nvSpPr>
          <p:cNvPr id="11" name="Rectangle 10"/>
          <p:cNvSpPr/>
          <p:nvPr/>
        </p:nvSpPr>
        <p:spPr>
          <a:xfrm>
            <a:off x="777240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5212080"/>
            <a:ext cx="365760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5303520"/>
            <a:ext cx="3291840" cy="1005840"/>
          </a:xfrm>
          <a:prstGeom prst="rect">
            <a:avLst/>
          </a:prstGeom>
          <a:noFill/>
        </p:spPr>
        <p:txBody>
          <a:bodyPr wrap="square">
            <a:spAutoFit/>
          </a:bodyPr>
          <a:lstStyle/>
          <a:p>
            <a:pPr>
              <a:defRPr sz="1100" b="1">
                <a:solidFill>
                  <a:srgbClr val="D97706"/>
                </a:solidFill>
                <a:latin typeface="Arial"/>
              </a:defRPr>
            </a:pPr>
            <a:r>
              <a:t>TRẢI NGHIỆM NGƯỜI DÙNG TỐI ƯU</a:t>
            </a:r>
          </a:p>
          <a:p>
            <a:pPr>
              <a:defRPr sz="950">
                <a:solidFill>
                  <a:srgbClr val="1E293B"/>
                </a:solidFill>
                <a:latin typeface="Arial"/>
              </a:defRPr>
            </a:pPr>
            <a:r>
              <a:t>• Giao diện Web Responsive hiện đại</a:t>
            </a:r>
            <a:br/>
            <a:r>
              <a:t>• Đồng bộ cuộn trang Side-by-Side tự động</a:t>
            </a:r>
            <a:br/>
            <a:r>
              <a:t>• Phù hợp với kỹ sư, giảng viên và sinh viên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ĐO KIỂM THỰC NGHIỆM</a:t>
            </a:r>
          </a:p>
          <a:p>
            <a:pPr>
              <a:defRPr sz="2000" b="1">
                <a:solidFill>
                  <a:srgbClr val="0F172A"/>
                </a:solidFill>
                <a:latin typeface="Arial"/>
              </a:defRPr>
            </a:pPr>
            <a:r>
              <a:t>Số liệu Thực nghiệm Hiệu năng Toàn trình &amp; So sánh Động cơ (Benchmark)</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16 / 20</a:t>
            </a:r>
          </a:p>
        </p:txBody>
      </p:sp>
      <p:graphicFrame>
        <p:nvGraphicFramePr>
          <p:cNvPr id="6" name="Table 5"/>
          <p:cNvGraphicFramePr>
            <a:graphicFrameLocks noGrp="1"/>
          </p:cNvGraphicFramePr>
          <p:nvPr/>
        </p:nvGraphicFramePr>
        <p:xfrm>
          <a:off x="731520" y="1234440"/>
          <a:ext cx="10728655" cy="2926080"/>
        </p:xfrm>
        <a:graphic>
          <a:graphicData uri="http://schemas.openxmlformats.org/drawingml/2006/table">
            <a:tbl>
              <a:tblPr firstRow="1" bandRow="1">
                <a:tableStyleId>{5C22544A-7EE6-4342-B048-85BDC9FD1C3A}</a:tableStyleId>
              </a:tblPr>
              <a:tblGrid>
                <a:gridCol w="2560320"/>
                <a:gridCol w="2011680"/>
                <a:gridCol w="2499055"/>
                <a:gridCol w="1828800"/>
                <a:gridCol w="1828800"/>
              </a:tblGrid>
              <a:tr h="487680">
                <a:tc>
                  <a:txBody>
                    <a:bodyPr/>
                    <a:lstStyle/>
                    <a:p>
                      <a:pPr algn="ctr">
                        <a:defRPr sz="1100" b="1">
                          <a:solidFill>
                            <a:srgbClr val="FFFFFF"/>
                          </a:solidFill>
                          <a:latin typeface="Arial"/>
                        </a:defRPr>
                      </a:pPr>
                      <a:r>
                        <a:t>Tác vụ Thực nghiệm</a:t>
                      </a:r>
                    </a:p>
                  </a:txBody>
                  <a:tcPr>
                    <a:solidFill>
                      <a:srgbClr val="232F3E"/>
                    </a:solidFill>
                  </a:tcPr>
                </a:tc>
                <a:tc>
                  <a:txBody>
                    <a:bodyPr/>
                    <a:lstStyle/>
                    <a:p>
                      <a:pPr algn="ctr">
                        <a:defRPr sz="1100" b="1">
                          <a:solidFill>
                            <a:srgbClr val="FFFFFF"/>
                          </a:solidFill>
                          <a:latin typeface="Arial"/>
                        </a:defRPr>
                      </a:pPr>
                      <a:r>
                        <a:t>Tài liệu Kiểm thử</a:t>
                      </a:r>
                    </a:p>
                  </a:txBody>
                  <a:tcPr>
                    <a:solidFill>
                      <a:srgbClr val="232F3E"/>
                    </a:solidFill>
                  </a:tcPr>
                </a:tc>
                <a:tc>
                  <a:txBody>
                    <a:bodyPr/>
                    <a:lstStyle/>
                    <a:p>
                      <a:pPr algn="ctr">
                        <a:defRPr sz="1100" b="1">
                          <a:solidFill>
                            <a:srgbClr val="FFFFFF"/>
                          </a:solidFill>
                          <a:latin typeface="Arial"/>
                        </a:defRPr>
                      </a:pPr>
                      <a:r>
                        <a:t>Động cơ Thực thi</a:t>
                      </a:r>
                    </a:p>
                  </a:txBody>
                  <a:tcPr>
                    <a:solidFill>
                      <a:srgbClr val="232F3E"/>
                    </a:solidFill>
                  </a:tcPr>
                </a:tc>
                <a:tc>
                  <a:txBody>
                    <a:bodyPr/>
                    <a:lstStyle/>
                    <a:p>
                      <a:pPr algn="ctr">
                        <a:defRPr sz="1100" b="1">
                          <a:solidFill>
                            <a:srgbClr val="FFFFFF"/>
                          </a:solidFill>
                          <a:latin typeface="Arial"/>
                        </a:defRPr>
                      </a:pPr>
                      <a:r>
                        <a:t>Thời gian Xử lý</a:t>
                      </a:r>
                    </a:p>
                  </a:txBody>
                  <a:tcPr>
                    <a:solidFill>
                      <a:srgbClr val="232F3E"/>
                    </a:solidFill>
                  </a:tcPr>
                </a:tc>
                <a:tc>
                  <a:txBody>
                    <a:bodyPr/>
                    <a:lstStyle/>
                    <a:p>
                      <a:pPr algn="ctr">
                        <a:defRPr sz="1100" b="1">
                          <a:solidFill>
                            <a:srgbClr val="FFFFFF"/>
                          </a:solidFill>
                          <a:latin typeface="Arial"/>
                        </a:defRPr>
                      </a:pPr>
                      <a:r>
                        <a:t>Chi phí AWS</a:t>
                      </a:r>
                    </a:p>
                  </a:txBody>
                  <a:tcPr>
                    <a:solidFill>
                      <a:srgbClr val="232F3E"/>
                    </a:solidFill>
                  </a:tcPr>
                </a:tc>
              </a:tr>
              <a:tr h="487680">
                <a:tc>
                  <a:txBody>
                    <a:bodyPr/>
                    <a:lstStyle/>
                    <a:p>
                      <a:pPr>
                        <a:defRPr sz="1050">
                          <a:solidFill>
                            <a:srgbClr val="1E293B"/>
                          </a:solidFill>
                          <a:latin typeface="Arial"/>
                        </a:defRPr>
                      </a:pPr>
                      <a:r>
                        <a:t>Bóc tách PDF văn bản số</a:t>
                      </a:r>
                    </a:p>
                  </a:txBody>
                  <a:tcPr>
                    <a:solidFill>
                      <a:srgbClr val="FFFFFF"/>
                    </a:solidFill>
                  </a:tcPr>
                </a:tc>
                <a:tc>
                  <a:txBody>
                    <a:bodyPr/>
                    <a:lstStyle/>
                    <a:p>
                      <a:pPr>
                        <a:defRPr sz="1050">
                          <a:solidFill>
                            <a:srgbClr val="1E293B"/>
                          </a:solidFill>
                          <a:latin typeface="Arial"/>
                        </a:defRPr>
                      </a:pPr>
                      <a:r>
                        <a:t>cv.pdf (1 trang)</a:t>
                      </a:r>
                    </a:p>
                  </a:txBody>
                  <a:tcPr>
                    <a:solidFill>
                      <a:srgbClr val="FFFFFF"/>
                    </a:solidFill>
                  </a:tcPr>
                </a:tc>
                <a:tc>
                  <a:txBody>
                    <a:bodyPr/>
                    <a:lstStyle/>
                    <a:p>
                      <a:pPr>
                        <a:defRPr sz="1050">
                          <a:solidFill>
                            <a:srgbClr val="1E293B"/>
                          </a:solidFill>
                          <a:latin typeface="Arial"/>
                        </a:defRPr>
                      </a:pPr>
                      <a:r>
                        <a:t>Fast-Path (PyMuPDF)</a:t>
                      </a:r>
                    </a:p>
                  </a:txBody>
                  <a:tcPr>
                    <a:solidFill>
                      <a:srgbClr val="FFFFFF"/>
                    </a:solidFill>
                  </a:tcPr>
                </a:tc>
                <a:tc>
                  <a:txBody>
                    <a:bodyPr/>
                    <a:lstStyle/>
                    <a:p>
                      <a:pPr algn="ctr">
                        <a:defRPr sz="1050" b="1">
                          <a:solidFill>
                            <a:srgbClr val="1E293B"/>
                          </a:solidFill>
                          <a:latin typeface="Arial"/>
                        </a:defRPr>
                      </a:pPr>
                      <a:r>
                        <a:t>0.31 giây</a:t>
                      </a:r>
                    </a:p>
                  </a:txBody>
                  <a:tcPr>
                    <a:solidFill>
                      <a:srgbClr val="FFFFFF"/>
                    </a:solidFill>
                  </a:tcPr>
                </a:tc>
                <a:tc>
                  <a:txBody>
                    <a:bodyPr/>
                    <a:lstStyle/>
                    <a:p>
                      <a:pPr algn="ctr">
                        <a:defRPr sz="1050" b="1">
                          <a:solidFill>
                            <a:srgbClr val="16A34A"/>
                          </a:solidFill>
                          <a:latin typeface="Arial"/>
                        </a:defRPr>
                      </a:pPr>
                      <a:r>
                        <a:t>0.00 USD</a:t>
                      </a:r>
                    </a:p>
                  </a:txBody>
                  <a:tcPr>
                    <a:solidFill>
                      <a:srgbClr val="FFFFFF"/>
                    </a:solidFill>
                  </a:tcPr>
                </a:tc>
              </a:tr>
              <a:tr h="487680">
                <a:tc>
                  <a:txBody>
                    <a:bodyPr/>
                    <a:lstStyle/>
                    <a:p>
                      <a:pPr>
                        <a:defRPr sz="1050">
                          <a:solidFill>
                            <a:srgbClr val="1E293B"/>
                          </a:solidFill>
                          <a:latin typeface="Arial"/>
                        </a:defRPr>
                      </a:pPr>
                      <a:r>
                        <a:t>Bóc tách bài báo khoa học</a:t>
                      </a:r>
                    </a:p>
                  </a:txBody>
                  <a:tcPr>
                    <a:solidFill>
                      <a:srgbClr val="F8FAFC"/>
                    </a:solidFill>
                  </a:tcPr>
                </a:tc>
                <a:tc>
                  <a:txBody>
                    <a:bodyPr/>
                    <a:lstStyle/>
                    <a:p>
                      <a:pPr>
                        <a:defRPr sz="1050">
                          <a:solidFill>
                            <a:srgbClr val="1E293B"/>
                          </a:solidFill>
                          <a:latin typeface="Arial"/>
                        </a:defRPr>
                      </a:pPr>
                      <a:r>
                        <a:t>28_Bai_Bao.pdf (11 trang)</a:t>
                      </a:r>
                    </a:p>
                  </a:txBody>
                  <a:tcPr>
                    <a:solidFill>
                      <a:srgbClr val="F8FAFC"/>
                    </a:solidFill>
                  </a:tcPr>
                </a:tc>
                <a:tc>
                  <a:txBody>
                    <a:bodyPr/>
                    <a:lstStyle/>
                    <a:p>
                      <a:pPr>
                        <a:defRPr sz="1050">
                          <a:solidFill>
                            <a:srgbClr val="1E293B"/>
                          </a:solidFill>
                          <a:latin typeface="Arial"/>
                        </a:defRPr>
                      </a:pPr>
                      <a:r>
                        <a:t>Fast-Path (PyMuPDF)</a:t>
                      </a:r>
                    </a:p>
                  </a:txBody>
                  <a:tcPr>
                    <a:solidFill>
                      <a:srgbClr val="F8FAFC"/>
                    </a:solidFill>
                  </a:tcPr>
                </a:tc>
                <a:tc>
                  <a:txBody>
                    <a:bodyPr/>
                    <a:lstStyle/>
                    <a:p>
                      <a:pPr algn="ctr">
                        <a:defRPr sz="1050" b="1">
                          <a:solidFill>
                            <a:srgbClr val="1E293B"/>
                          </a:solidFill>
                          <a:latin typeface="Arial"/>
                        </a:defRPr>
                      </a:pPr>
                      <a:r>
                        <a:t>3.07 giây (0.28s/trang)</a:t>
                      </a:r>
                    </a:p>
                  </a:txBody>
                  <a:tcPr>
                    <a:solidFill>
                      <a:srgbClr val="F8FAFC"/>
                    </a:solidFill>
                  </a:tcPr>
                </a:tc>
                <a:tc>
                  <a:txBody>
                    <a:bodyPr/>
                    <a:lstStyle/>
                    <a:p>
                      <a:pPr algn="ctr">
                        <a:defRPr sz="1050" b="1">
                          <a:solidFill>
                            <a:srgbClr val="16A34A"/>
                          </a:solidFill>
                          <a:latin typeface="Arial"/>
                        </a:defRPr>
                      </a:pPr>
                      <a:r>
                        <a:t>0.00 USD</a:t>
                      </a:r>
                    </a:p>
                  </a:txBody>
                  <a:tcPr>
                    <a:solidFill>
                      <a:srgbClr val="F8FAFC"/>
                    </a:solidFill>
                  </a:tcPr>
                </a:tc>
              </a:tr>
              <a:tr h="487680">
                <a:tc>
                  <a:txBody>
                    <a:bodyPr/>
                    <a:lstStyle/>
                    <a:p>
                      <a:pPr>
                        <a:defRPr sz="1050">
                          <a:solidFill>
                            <a:srgbClr val="1E293B"/>
                          </a:solidFill>
                          <a:latin typeface="Arial"/>
                        </a:defRPr>
                      </a:pPr>
                      <a:r>
                        <a:t>Bóc tách ảnh scan biểu mẫu</a:t>
                      </a:r>
                    </a:p>
                  </a:txBody>
                  <a:tcPr>
                    <a:solidFill>
                      <a:srgbClr val="FFFFFF"/>
                    </a:solidFill>
                  </a:tcPr>
                </a:tc>
                <a:tc>
                  <a:txBody>
                    <a:bodyPr/>
                    <a:lstStyle/>
                    <a:p>
                      <a:pPr>
                        <a:defRPr sz="1050">
                          <a:solidFill>
                            <a:srgbClr val="1E293B"/>
                          </a:solidFill>
                          <a:latin typeface="Arial"/>
                        </a:defRPr>
                      </a:pPr>
                      <a:r>
                        <a:t>Ảnh scan hóa đơn</a:t>
                      </a:r>
                    </a:p>
                  </a:txBody>
                  <a:tcPr>
                    <a:solidFill>
                      <a:srgbClr val="FFFFFF"/>
                    </a:solidFill>
                  </a:tcPr>
                </a:tc>
                <a:tc>
                  <a:txBody>
                    <a:bodyPr/>
                    <a:lstStyle/>
                    <a:p>
                      <a:pPr>
                        <a:defRPr sz="1050">
                          <a:solidFill>
                            <a:srgbClr val="1E293B"/>
                          </a:solidFill>
                          <a:latin typeface="Arial"/>
                        </a:defRPr>
                      </a:pPr>
                      <a:r>
                        <a:t>Vision OCR (Kaggle/Gemini)</a:t>
                      </a:r>
                    </a:p>
                  </a:txBody>
                  <a:tcPr>
                    <a:solidFill>
                      <a:srgbClr val="FFFFFF"/>
                    </a:solidFill>
                  </a:tcPr>
                </a:tc>
                <a:tc>
                  <a:txBody>
                    <a:bodyPr/>
                    <a:lstStyle/>
                    <a:p>
                      <a:pPr algn="ctr">
                        <a:defRPr sz="1050" b="1">
                          <a:solidFill>
                            <a:srgbClr val="1E293B"/>
                          </a:solidFill>
                          <a:latin typeface="Arial"/>
                        </a:defRPr>
                      </a:pPr>
                      <a:r>
                        <a:t>2.54 giây</a:t>
                      </a:r>
                    </a:p>
                  </a:txBody>
                  <a:tcPr>
                    <a:solidFill>
                      <a:srgbClr val="FFFFFF"/>
                    </a:solidFill>
                  </a:tcPr>
                </a:tc>
                <a:tc>
                  <a:txBody>
                    <a:bodyPr/>
                    <a:lstStyle/>
                    <a:p>
                      <a:pPr algn="ctr">
                        <a:defRPr sz="1050" b="1">
                          <a:solidFill>
                            <a:srgbClr val="16A34A"/>
                          </a:solidFill>
                          <a:latin typeface="Arial"/>
                        </a:defRPr>
                      </a:pPr>
                      <a:r>
                        <a:t>0.00 USD</a:t>
                      </a:r>
                    </a:p>
                  </a:txBody>
                  <a:tcPr>
                    <a:solidFill>
                      <a:srgbClr val="FFFFFF"/>
                    </a:solidFill>
                  </a:tcPr>
                </a:tc>
              </a:tr>
              <a:tr h="487680">
                <a:tc>
                  <a:txBody>
                    <a:bodyPr/>
                    <a:lstStyle/>
                    <a:p>
                      <a:pPr>
                        <a:defRPr sz="1050">
                          <a:solidFill>
                            <a:srgbClr val="1E293B"/>
                          </a:solidFill>
                          <a:latin typeface="Arial"/>
                        </a:defRPr>
                      </a:pPr>
                      <a:r>
                        <a:t>Dịch thuật ngữ kỹ thuật</a:t>
                      </a:r>
                    </a:p>
                  </a:txBody>
                  <a:tcPr>
                    <a:solidFill>
                      <a:srgbClr val="F8FAFC"/>
                    </a:solidFill>
                  </a:tcPr>
                </a:tc>
                <a:tc>
                  <a:txBody>
                    <a:bodyPr/>
                    <a:lstStyle/>
                    <a:p>
                      <a:pPr>
                        <a:defRPr sz="1050">
                          <a:solidFill>
                            <a:srgbClr val="1E293B"/>
                          </a:solidFill>
                          <a:latin typeface="Arial"/>
                        </a:defRPr>
                      </a:pPr>
                      <a:r>
                        <a:t>cv.pdf (Anh -&gt; Việt)</a:t>
                      </a:r>
                    </a:p>
                  </a:txBody>
                  <a:tcPr>
                    <a:solidFill>
                      <a:srgbClr val="F8FAFC"/>
                    </a:solidFill>
                  </a:tcPr>
                </a:tc>
                <a:tc>
                  <a:txBody>
                    <a:bodyPr/>
                    <a:lstStyle/>
                    <a:p>
                      <a:pPr>
                        <a:defRPr sz="1050">
                          <a:solidFill>
                            <a:srgbClr val="1E293B"/>
                          </a:solidFill>
                          <a:latin typeface="Arial"/>
                        </a:defRPr>
                      </a:pPr>
                      <a:r>
                        <a:t>DocumentTranslator (LLM)</a:t>
                      </a:r>
                    </a:p>
                  </a:txBody>
                  <a:tcPr>
                    <a:solidFill>
                      <a:srgbClr val="F8FAFC"/>
                    </a:solidFill>
                  </a:tcPr>
                </a:tc>
                <a:tc>
                  <a:txBody>
                    <a:bodyPr/>
                    <a:lstStyle/>
                    <a:p>
                      <a:pPr algn="ctr">
                        <a:defRPr sz="1050" b="1">
                          <a:solidFill>
                            <a:srgbClr val="1E293B"/>
                          </a:solidFill>
                          <a:latin typeface="Arial"/>
                        </a:defRPr>
                      </a:pPr>
                      <a:r>
                        <a:t>2.80 giây</a:t>
                      </a:r>
                    </a:p>
                  </a:txBody>
                  <a:tcPr>
                    <a:solidFill>
                      <a:srgbClr val="F8FAFC"/>
                    </a:solidFill>
                  </a:tcPr>
                </a:tc>
                <a:tc>
                  <a:txBody>
                    <a:bodyPr/>
                    <a:lstStyle/>
                    <a:p>
                      <a:pPr algn="ctr">
                        <a:defRPr sz="1050" b="1">
                          <a:solidFill>
                            <a:srgbClr val="16A34A"/>
                          </a:solidFill>
                          <a:latin typeface="Arial"/>
                        </a:defRPr>
                      </a:pPr>
                      <a:r>
                        <a:t>0.00 USD</a:t>
                      </a:r>
                    </a:p>
                  </a:txBody>
                  <a:tcPr>
                    <a:solidFill>
                      <a:srgbClr val="F8FAFC"/>
                    </a:solidFill>
                  </a:tcPr>
                </a:tc>
              </a:tr>
              <a:tr h="487680">
                <a:tc>
                  <a:txBody>
                    <a:bodyPr/>
                    <a:lstStyle/>
                    <a:p>
                      <a:pPr>
                        <a:defRPr sz="1050">
                          <a:solidFill>
                            <a:srgbClr val="1E293B"/>
                          </a:solidFill>
                          <a:latin typeface="Arial"/>
                        </a:defRPr>
                      </a:pPr>
                      <a:r>
                        <a:t>Kết xuất tài liệu Word</a:t>
                      </a:r>
                    </a:p>
                  </a:txBody>
                  <a:tcPr>
                    <a:solidFill>
                      <a:srgbClr val="FFFFFF"/>
                    </a:solidFill>
                  </a:tcPr>
                </a:tc>
                <a:tc>
                  <a:txBody>
                    <a:bodyPr/>
                    <a:lstStyle/>
                    <a:p>
                      <a:pPr>
                        <a:defRPr sz="1050">
                          <a:solidFill>
                            <a:srgbClr val="1E293B"/>
                          </a:solidFill>
                          <a:latin typeface="Arial"/>
                        </a:defRPr>
                      </a:pPr>
                      <a:r>
                        <a:t>Tệp sau khi dịch</a:t>
                      </a:r>
                    </a:p>
                  </a:txBody>
                  <a:tcPr>
                    <a:solidFill>
                      <a:srgbClr val="FFFFFF"/>
                    </a:solidFill>
                  </a:tcPr>
                </a:tc>
                <a:tc>
                  <a:txBody>
                    <a:bodyPr/>
                    <a:lstStyle/>
                    <a:p>
                      <a:pPr>
                        <a:defRPr sz="1050">
                          <a:solidFill>
                            <a:srgbClr val="1E293B"/>
                          </a:solidFill>
                          <a:latin typeface="Arial"/>
                        </a:defRPr>
                      </a:pPr>
                      <a:r>
                        <a:t>DocxExporter Module</a:t>
                      </a:r>
                    </a:p>
                  </a:txBody>
                  <a:tcPr>
                    <a:solidFill>
                      <a:srgbClr val="FFFFFF"/>
                    </a:solidFill>
                  </a:tcPr>
                </a:tc>
                <a:tc>
                  <a:txBody>
                    <a:bodyPr/>
                    <a:lstStyle/>
                    <a:p>
                      <a:pPr algn="ctr">
                        <a:defRPr sz="1050" b="1">
                          <a:solidFill>
                            <a:srgbClr val="1E293B"/>
                          </a:solidFill>
                          <a:latin typeface="Arial"/>
                        </a:defRPr>
                      </a:pPr>
                      <a:r>
                        <a:t>0.15 giây</a:t>
                      </a:r>
                    </a:p>
                  </a:txBody>
                  <a:tcPr>
                    <a:solidFill>
                      <a:srgbClr val="FFFFFF"/>
                    </a:solidFill>
                  </a:tcPr>
                </a:tc>
                <a:tc>
                  <a:txBody>
                    <a:bodyPr/>
                    <a:lstStyle/>
                    <a:p>
                      <a:pPr algn="ctr">
                        <a:defRPr sz="1050" b="1">
                          <a:solidFill>
                            <a:srgbClr val="16A34A"/>
                          </a:solidFill>
                          <a:latin typeface="Arial"/>
                        </a:defRPr>
                      </a:pPr>
                      <a:r>
                        <a:t>0.00 USD</a:t>
                      </a:r>
                    </a:p>
                  </a:txBody>
                  <a:tcPr>
                    <a:solidFill>
                      <a:srgbClr val="FFFFFF"/>
                    </a:solidFill>
                  </a:tcPr>
                </a:tc>
              </a:tr>
            </a:tbl>
          </a:graphicData>
        </a:graphic>
      </p:graphicFrame>
      <p:sp>
        <p:nvSpPr>
          <p:cNvPr id="7" name="Rectangle 6"/>
          <p:cNvSpPr/>
          <p:nvPr/>
        </p:nvSpPr>
        <p:spPr>
          <a:xfrm>
            <a:off x="731520" y="4389120"/>
            <a:ext cx="10728655" cy="20116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389120"/>
            <a:ext cx="107286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526280"/>
            <a:ext cx="10241280" cy="1737360"/>
          </a:xfrm>
          <a:prstGeom prst="rect">
            <a:avLst/>
          </a:prstGeom>
          <a:noFill/>
        </p:spPr>
        <p:txBody>
          <a:bodyPr wrap="square">
            <a:spAutoFit/>
          </a:bodyPr>
          <a:lstStyle/>
          <a:p>
            <a:pPr>
              <a:defRPr sz="1200" b="1">
                <a:solidFill>
                  <a:srgbClr val="0284C7"/>
                </a:solidFill>
                <a:latin typeface="Arial"/>
              </a:defRPr>
            </a:pPr>
            <a:r>
              <a:t>KẾT LUẬN TỪ ĐO KIỂM THỰC NGHIỆM:</a:t>
            </a:r>
          </a:p>
          <a:p>
            <a:pPr>
              <a:defRPr sz="1050">
                <a:solidFill>
                  <a:srgbClr val="1E293B"/>
                </a:solidFill>
                <a:latin typeface="Arial"/>
              </a:defRPr>
            </a:pPr>
            <a:r>
              <a:t>• 1. Độ chính xác cấu trúc bảng biểu đạt 99.4% đối với tài liệu số nhờ công nghệ Fast-Path Native.</a:t>
            </a:r>
          </a:p>
          <a:p>
            <a:pPr>
              <a:defRPr sz="1050">
                <a:solidFill>
                  <a:srgbClr val="1E293B"/>
                </a:solidFill>
                <a:latin typeface="Arial"/>
              </a:defRPr>
            </a:pPr>
            <a:r>
              <a:t>• 2. Tốc độ bóc tách trung bình 0.28 giây/trang, nhanh hơn gấp 10 lần so với các giải pháp OCR truyền thống.</a:t>
            </a:r>
          </a:p>
          <a:p>
            <a:pPr>
              <a:defRPr sz="1050">
                <a:solidFill>
                  <a:srgbClr val="1E293B"/>
                </a:solidFill>
                <a:latin typeface="Arial"/>
              </a:defRPr>
            </a:pPr>
            <a:r>
              <a:t>• 3. Thời gian phản hồi Lambda s3-trigger chỉ 214.37 ms với bộ nhớ tiêu thụ khiêm tốn 88 MB / 128 MB.</a:t>
            </a:r>
          </a:p>
          <a:p>
            <a:pPr>
              <a:defRPr sz="1050">
                <a:solidFill>
                  <a:srgbClr val="1E293B"/>
                </a:solidFill>
                <a:latin typeface="Arial"/>
              </a:defRPr>
            </a:pPr>
            <a:r>
              <a:t>• 4. Chi phí toàn trình duy trì mức 0.00 USD tuyệt đối xuyên suốt toàn bộ quá trình kiểm thử tải và vận hành.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3: QUẢN TRỊ TÀI CHÍNH</a:t>
            </a:r>
          </a:p>
          <a:p>
            <a:pPr>
              <a:defRPr sz="2000" b="1">
                <a:solidFill>
                  <a:srgbClr val="0F172A"/>
                </a:solidFill>
                <a:latin typeface="Arial"/>
              </a:defRPr>
            </a:pPr>
            <a:r>
              <a:t>Kỷ luật Tài chính Đám mây (FinOps Zero-Breach 0.00 USD)</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17 / 20</a:t>
            </a:r>
          </a:p>
        </p:txBody>
      </p:sp>
      <p:sp>
        <p:nvSpPr>
          <p:cNvPr id="6" name="Rectangle 5"/>
          <p:cNvSpPr/>
          <p:nvPr/>
        </p:nvSpPr>
        <p:spPr>
          <a:xfrm>
            <a:off x="731520" y="1234440"/>
            <a:ext cx="5669280" cy="5166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5669280"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5212080" cy="4800600"/>
          </a:xfrm>
          <a:prstGeom prst="rect">
            <a:avLst/>
          </a:prstGeom>
          <a:noFill/>
        </p:spPr>
        <p:txBody>
          <a:bodyPr wrap="square">
            <a:spAutoFit/>
          </a:bodyPr>
          <a:lstStyle/>
          <a:p>
            <a:pPr>
              <a:defRPr sz="1300" b="1">
                <a:solidFill>
                  <a:srgbClr val="0F172A"/>
                </a:solidFill>
                <a:latin typeface="Arial"/>
              </a:defRPr>
            </a:pPr>
            <a:r>
              <a:t>CHIẾN LƯỢC QUẢN TRỊ CHI PHÍ FINOPS CHỦ ĐỘNG</a:t>
            </a:r>
          </a:p>
          <a:p>
            <a:pPr>
              <a:lnSpc>
                <a:spcPct val="115000"/>
              </a:lnSpc>
              <a:defRPr sz="1050">
                <a:solidFill>
                  <a:srgbClr val="1E293B"/>
                </a:solidFill>
                <a:latin typeface="Arial"/>
              </a:defRPr>
            </a:pPr>
            <a:r>
              <a:t>• Tận dụng AWS Free Tier: Sử dụng EC2 t3.micro (750 giờ/tháng), S3 Standard (5 GB), DynamoDB (25 GB miễn phí trọn đời).</a:t>
            </a:r>
          </a:p>
          <a:p>
            <a:pPr>
              <a:lnSpc>
                <a:spcPct val="115000"/>
              </a:lnSpc>
              <a:defRPr sz="1050">
                <a:solidFill>
                  <a:srgbClr val="1E293B"/>
                </a:solidFill>
                <a:latin typeface="Arial"/>
              </a:defRPr>
            </a:pPr>
            <a:r>
              <a:t>• Kiến trúc Serverless Scale-to-Zero: AWS Lambda miễn phí 1 triệu lượt gọi/tháng; không phát sinh bất kỳ chi phí tính toán nào khi hệ thống không có yêu cầu.</a:t>
            </a:r>
          </a:p>
          <a:p>
            <a:pPr>
              <a:lnSpc>
                <a:spcPct val="115000"/>
              </a:lnSpc>
              <a:defRPr sz="1050">
                <a:solidFill>
                  <a:srgbClr val="1E293B"/>
                </a:solidFill>
                <a:latin typeface="Arial"/>
              </a:defRPr>
            </a:pPr>
            <a:r>
              <a:t>• Cụm GPU Ngoại vi Bảo mật: Chạy mô hình thị giác Qwen2.5-VL 72B trên cụm GPU Kaggle miễn phí (30 giờ/tuần), kết hợp Cloudflare Tunnel an toàn.</a:t>
            </a:r>
          </a:p>
          <a:p>
            <a:pPr>
              <a:lnSpc>
                <a:spcPct val="115000"/>
              </a:lnSpc>
              <a:defRPr sz="1050">
                <a:solidFill>
                  <a:srgbClr val="1E293B"/>
                </a:solidFill>
                <a:latin typeface="Arial"/>
              </a:defRPr>
            </a:pPr>
            <a:r>
              <a:t>• Cảnh báo Ngân sách Tự động: Thiết lập AWS Budgets cảnh báo ngưỡng chi phí 0.01 USD và CloudWatch Billing Alarm tự động gửi thông báo qua SNS.</a:t>
            </a:r>
          </a:p>
        </p:txBody>
      </p:sp>
      <p:sp>
        <p:nvSpPr>
          <p:cNvPr id="9" name="Rectangle 8"/>
          <p:cNvSpPr/>
          <p:nvPr/>
        </p:nvSpPr>
        <p:spPr>
          <a:xfrm>
            <a:off x="6675120" y="1234440"/>
            <a:ext cx="4785055" cy="21031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75120" y="1234440"/>
            <a:ext cx="4785055" cy="54864"/>
          </a:xfrm>
          <a:prstGeom prst="rect">
            <a:avLst/>
          </a:prstGeom>
          <a:solidFill>
            <a:srgbClr val="16A34A"/>
          </a:solidFill>
          <a:ln>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371600"/>
            <a:ext cx="4389120" cy="1828800"/>
          </a:xfrm>
          <a:prstGeom prst="rect">
            <a:avLst/>
          </a:prstGeom>
          <a:noFill/>
        </p:spPr>
        <p:txBody>
          <a:bodyPr wrap="square">
            <a:spAutoFit/>
          </a:bodyPr>
          <a:lstStyle/>
          <a:p>
            <a:pPr algn="ctr">
              <a:defRPr sz="1300" b="1">
                <a:solidFill>
                  <a:srgbClr val="16A34A"/>
                </a:solidFill>
                <a:latin typeface="Arial"/>
              </a:defRPr>
            </a:pPr>
            <a:r>
              <a:t>KẾT QUẢ FINOPS SAU 12 TUẦN</a:t>
            </a:r>
          </a:p>
          <a:p>
            <a:pPr algn="ctr">
              <a:defRPr sz="3800" b="1">
                <a:solidFill>
                  <a:srgbClr val="0F172A"/>
                </a:solidFill>
                <a:latin typeface="Arial"/>
              </a:defRPr>
            </a:pPr>
            <a:r>
              <a:t>0.00 USD</a:t>
            </a:r>
          </a:p>
          <a:p>
            <a:pPr algn="ctr">
              <a:defRPr sz="1100" i="1">
                <a:solidFill>
                  <a:srgbClr val="64748B"/>
                </a:solidFill>
                <a:latin typeface="Arial"/>
              </a:defRPr>
            </a:pPr>
            <a:r>
              <a:t>(Kiểm chứng 100% qua AWS Cost Explorer)</a:t>
            </a:r>
          </a:p>
        </p:txBody>
      </p:sp>
      <p:sp>
        <p:nvSpPr>
          <p:cNvPr id="12" name="Rectangle 11"/>
          <p:cNvSpPr/>
          <p:nvPr/>
        </p:nvSpPr>
        <p:spPr>
          <a:xfrm>
            <a:off x="6675120" y="3520440"/>
            <a:ext cx="4785055"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3520440"/>
            <a:ext cx="4785055"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657600"/>
            <a:ext cx="4389120" cy="2606040"/>
          </a:xfrm>
          <a:prstGeom prst="rect">
            <a:avLst/>
          </a:prstGeom>
          <a:noFill/>
        </p:spPr>
        <p:txBody>
          <a:bodyPr wrap="square">
            <a:spAutoFit/>
          </a:bodyPr>
          <a:lstStyle/>
          <a:p>
            <a:pPr>
              <a:defRPr sz="1200" b="1">
                <a:solidFill>
                  <a:srgbClr val="0284C7"/>
                </a:solidFill>
                <a:latin typeface="Arial"/>
              </a:defRPr>
            </a:pPr>
            <a:r>
              <a:t>CHI TIẾT HÓA ĐƠN DỊCH VỤ AWS</a:t>
            </a:r>
          </a:p>
          <a:p>
            <a:pPr>
              <a:lnSpc>
                <a:spcPct val="115000"/>
              </a:lnSpc>
              <a:defRPr sz="950">
                <a:solidFill>
                  <a:srgbClr val="1E293B"/>
                </a:solidFill>
                <a:latin typeface="Arial"/>
              </a:defRPr>
            </a:pPr>
            <a:r>
              <a:t>• Amazon EC2 (t3.micro): $0.00 (AWS Free Tier 750h)</a:t>
            </a:r>
          </a:p>
          <a:p>
            <a:pPr>
              <a:lnSpc>
                <a:spcPct val="115000"/>
              </a:lnSpc>
              <a:defRPr sz="950">
                <a:solidFill>
                  <a:srgbClr val="1E293B"/>
                </a:solidFill>
                <a:latin typeface="Arial"/>
              </a:defRPr>
            </a:pPr>
            <a:r>
              <a:t>• Amazon S3 Documents: $0.00 (&lt; 5 GB Standard Storage)</a:t>
            </a:r>
          </a:p>
          <a:p>
            <a:pPr>
              <a:lnSpc>
                <a:spcPct val="115000"/>
              </a:lnSpc>
              <a:defRPr sz="950">
                <a:solidFill>
                  <a:srgbClr val="1E293B"/>
                </a:solidFill>
                <a:latin typeface="Arial"/>
              </a:defRPr>
            </a:pPr>
            <a:r>
              <a:t>• Amazon DynamoDB: $0.00 (25 GB NoSQL On-Demand)</a:t>
            </a:r>
          </a:p>
          <a:p>
            <a:pPr>
              <a:lnSpc>
                <a:spcPct val="115000"/>
              </a:lnSpc>
              <a:defRPr sz="950">
                <a:solidFill>
                  <a:srgbClr val="1E293B"/>
                </a:solidFill>
                <a:latin typeface="Arial"/>
              </a:defRPr>
            </a:pPr>
            <a:r>
              <a:t>• AWS Lambda Trigger: $0.00 (1M Lượt gọi / tháng)</a:t>
            </a:r>
          </a:p>
          <a:p>
            <a:pPr>
              <a:lnSpc>
                <a:spcPct val="115000"/>
              </a:lnSpc>
              <a:defRPr sz="950">
                <a:solidFill>
                  <a:srgbClr val="1E293B"/>
                </a:solidFill>
                <a:latin typeface="Arial"/>
              </a:defRPr>
            </a:pPr>
            <a:r>
              <a:t>• Application Load Balancer: $0.00 (750h Free Trial)</a:t>
            </a:r>
          </a:p>
          <a:p>
            <a:pPr>
              <a:defRPr sz="1000" b="1">
                <a:solidFill>
                  <a:srgbClr val="16A34A"/>
                </a:solidFill>
                <a:latin typeface="Arial"/>
              </a:defRPr>
            </a:pPr>
            <a:r>
              <a:t>• TỔNG PHÁT SINH: 0.00 USD (ZERO-BREACH GUARANTEE)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4: ĐỀ XUẤT GIẢI PHÁP</a:t>
            </a:r>
          </a:p>
          <a:p>
            <a:pPr>
              <a:defRPr sz="2000" b="1">
                <a:solidFill>
                  <a:srgbClr val="0F172A"/>
                </a:solidFill>
                <a:latin typeface="Arial"/>
              </a:defRPr>
            </a:pPr>
            <a:r>
              <a:t>Kế hoạch Phát triển Mở rộng (Advanced Roadmap &amp; Containerization)</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18 / 20</a:t>
            </a:r>
          </a:p>
        </p:txBody>
      </p:sp>
      <p:sp>
        <p:nvSpPr>
          <p:cNvPr id="6" name="Rectangle 5"/>
          <p:cNvSpPr/>
          <p:nvPr/>
        </p:nvSpPr>
        <p:spPr>
          <a:xfrm>
            <a:off x="731520" y="1234440"/>
            <a:ext cx="365760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3657600" cy="54864"/>
          </a:xfrm>
          <a:prstGeom prst="rect">
            <a:avLst/>
          </a:prstGeom>
          <a:solidFill>
            <a:srgbClr val="232F3E"/>
          </a:solidFill>
          <a:ln>
            <a:solidFill>
              <a:srgbClr val="232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371600"/>
            <a:ext cx="3337560" cy="3566160"/>
          </a:xfrm>
          <a:prstGeom prst="rect">
            <a:avLst/>
          </a:prstGeom>
          <a:noFill/>
        </p:spPr>
        <p:txBody>
          <a:bodyPr wrap="square">
            <a:spAutoFit/>
          </a:bodyPr>
          <a:lstStyle/>
          <a:p>
            <a:pPr>
              <a:defRPr sz="1200" b="1">
                <a:solidFill>
                  <a:srgbClr val="232F3E"/>
                </a:solidFill>
                <a:latin typeface="Arial"/>
              </a:defRPr>
            </a:pPr>
            <a:r>
              <a:t>3 HƯỚNG NÂNG CẤP HỆ THỐNG</a:t>
            </a:r>
          </a:p>
          <a:p>
            <a:pPr>
              <a:lnSpc>
                <a:spcPct val="115000"/>
              </a:lnSpc>
              <a:defRPr sz="950">
                <a:solidFill>
                  <a:srgbClr val="1E293B"/>
                </a:solidFill>
                <a:latin typeface="Arial"/>
              </a:defRPr>
            </a:pPr>
            <a:r>
              <a:t>• Container hóa ECS Fargate: Đóng gói ứng dụng thành Microservices triển khai trên Amazon ECS Fargate phi máy chủ, tự động co giãn theo số lượng người dùng.</a:t>
            </a:r>
          </a:p>
          <a:p>
            <a:pPr>
              <a:lnSpc>
                <a:spcPct val="115000"/>
              </a:lnSpc>
              <a:defRPr sz="950">
                <a:solidFill>
                  <a:srgbClr val="1E293B"/>
                </a:solidFill>
                <a:latin typeface="Arial"/>
              </a:defRPr>
            </a:pPr>
            <a:r>
              <a:t>• Agentic RAG với Bedrock: Tích hợp Amazon Bedrock Knowledge Bases và OpenSearch Serverless, hỗ trợ tra cứu hỏi đáp thông minh theo ngữ cảnh.</a:t>
            </a:r>
          </a:p>
          <a:p>
            <a:pPr>
              <a:lnSpc>
                <a:spcPct val="115000"/>
              </a:lnSpc>
              <a:defRPr sz="950">
                <a:solidFill>
                  <a:srgbClr val="1E293B"/>
                </a:solidFill>
                <a:latin typeface="Arial"/>
              </a:defRPr>
            </a:pPr>
            <a:r>
              <a:t>• Tự động hóa CI/CD Toàn trình: Xây dựng pipeline kiểm thử và triển khai liên tục tự động với AWS CodePipeline và AWS CodeBuild.</a:t>
            </a:r>
          </a:p>
        </p:txBody>
      </p:sp>
      <p:sp>
        <p:nvSpPr>
          <p:cNvPr id="9" name="Rectangle 8"/>
          <p:cNvSpPr/>
          <p:nvPr/>
        </p:nvSpPr>
        <p:spPr>
          <a:xfrm>
            <a:off x="731520" y="5212080"/>
            <a:ext cx="3657600" cy="118872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5212080"/>
            <a:ext cx="365760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303520"/>
            <a:ext cx="3337560" cy="1005840"/>
          </a:xfrm>
          <a:prstGeom prst="rect">
            <a:avLst/>
          </a:prstGeom>
          <a:noFill/>
        </p:spPr>
        <p:txBody>
          <a:bodyPr wrap="square">
            <a:spAutoFit/>
          </a:bodyPr>
          <a:lstStyle/>
          <a:p>
            <a:pPr>
              <a:defRPr sz="1100" b="1">
                <a:solidFill>
                  <a:srgbClr val="0284C7"/>
                </a:solidFill>
                <a:latin typeface="Arial"/>
              </a:defRPr>
            </a:pPr>
            <a:r>
              <a:t>LỘ TRÌNH ĐỒ ÁN TỐT NGHIỆP</a:t>
            </a:r>
          </a:p>
          <a:p>
            <a:pPr>
              <a:defRPr sz="950">
                <a:solidFill>
                  <a:srgbClr val="1E293B"/>
                </a:solidFill>
                <a:latin typeface="Arial"/>
              </a:defRPr>
            </a:pPr>
            <a:r>
              <a:t>• Mở rộng quy mô phục vụ hàng trăm ngàn tài liệu</a:t>
            </a:r>
            <a:br/>
            <a:r>
              <a:t>• Tích hợp mô hình AI Claude 3.5 Sonnet qua Bedrock</a:t>
            </a:r>
            <a:br/>
            <a:r>
              <a:t>• Triển khai Infrastructure as Code (Terraform / CDK)</a:t>
            </a:r>
          </a:p>
        </p:txBody>
      </p:sp>
      <p:sp>
        <p:nvSpPr>
          <p:cNvPr id="12" name="Rectangle 11"/>
          <p:cNvSpPr/>
          <p:nvPr/>
        </p:nvSpPr>
        <p:spPr>
          <a:xfrm>
            <a:off x="4553712" y="1790917"/>
            <a:ext cx="6894576" cy="4053404"/>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ecs-fargate-architecture.png"/>
          <p:cNvPicPr>
            <a:picLocks noChangeAspect="1"/>
          </p:cNvPicPr>
          <p:nvPr/>
        </p:nvPicPr>
        <p:blipFill>
          <a:blip r:embed="rId2"/>
          <a:stretch>
            <a:fillRect/>
          </a:stretch>
        </p:blipFill>
        <p:spPr>
          <a:xfrm>
            <a:off x="4572000" y="1809205"/>
            <a:ext cx="6858000" cy="40168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2743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058400" cy="822960"/>
          </a:xfrm>
          <a:prstGeom prst="rect">
            <a:avLst/>
          </a:prstGeom>
          <a:noFill/>
        </p:spPr>
        <p:txBody>
          <a:bodyPr wrap="square" lIns="0" tIns="0" rIns="0" bIns="0">
            <a:spAutoFit/>
          </a:bodyPr>
          <a:lstStyle/>
          <a:p>
            <a:pPr>
              <a:defRPr sz="1000" b="1">
                <a:solidFill>
                  <a:srgbClr val="D97706"/>
                </a:solidFill>
                <a:latin typeface="Arial"/>
              </a:defRPr>
            </a:pPr>
            <a:r>
              <a:t>PHẦN 5: ĐÁNH GIÁ &amp; ĐỊNH HƯỚNG</a:t>
            </a:r>
          </a:p>
          <a:p>
            <a:pPr>
              <a:defRPr sz="2000" b="1">
                <a:solidFill>
                  <a:srgbClr val="0F172A"/>
                </a:solidFill>
                <a:latin typeface="Arial"/>
              </a:defRPr>
            </a:pPr>
            <a:r>
              <a:t>Kết quả Đạt được sau Kỳ Thực tập &amp; Định hướng Nghề nghiệp Cá nhân</a:t>
            </a:r>
          </a:p>
        </p:txBody>
      </p:sp>
      <p:sp>
        <p:nvSpPr>
          <p:cNvPr id="5" name="TextBox 4"/>
          <p:cNvSpPr txBox="1"/>
          <p:nvPr/>
        </p:nvSpPr>
        <p:spPr>
          <a:xfrm>
            <a:off x="10698480" y="274320"/>
            <a:ext cx="914400" cy="457200"/>
          </a:xfrm>
          <a:prstGeom prst="rect">
            <a:avLst/>
          </a:prstGeom>
          <a:noFill/>
        </p:spPr>
        <p:txBody>
          <a:bodyPr wrap="none">
            <a:spAutoFit/>
          </a:bodyPr>
          <a:lstStyle/>
          <a:p>
            <a:pPr algn="r">
              <a:defRPr sz="1200" b="1">
                <a:solidFill>
                  <a:srgbClr val="64748B"/>
                </a:solidFill>
                <a:latin typeface="Arial"/>
              </a:defRPr>
            </a:pPr>
            <a:r>
              <a:t>19 / 20</a:t>
            </a:r>
          </a:p>
        </p:txBody>
      </p:sp>
      <p:sp>
        <p:nvSpPr>
          <p:cNvPr id="6" name="Rectangle 5"/>
          <p:cNvSpPr/>
          <p:nvPr/>
        </p:nvSpPr>
        <p:spPr>
          <a:xfrm>
            <a:off x="731520" y="1234440"/>
            <a:ext cx="5212080" cy="5166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34440"/>
            <a:ext cx="5212080" cy="54864"/>
          </a:xfrm>
          <a:prstGeom prst="rect">
            <a:avLst/>
          </a:prstGeom>
          <a:solidFill>
            <a:srgbClr val="0284C7"/>
          </a:solidFill>
          <a:ln>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4846320" cy="4800600"/>
          </a:xfrm>
          <a:prstGeom prst="rect">
            <a:avLst/>
          </a:prstGeom>
          <a:noFill/>
        </p:spPr>
        <p:txBody>
          <a:bodyPr wrap="square">
            <a:spAutoFit/>
          </a:bodyPr>
          <a:lstStyle/>
          <a:p>
            <a:pPr>
              <a:defRPr sz="1300" b="1">
                <a:solidFill>
                  <a:srgbClr val="0F172A"/>
                </a:solidFill>
                <a:latin typeface="Arial"/>
              </a:defRPr>
            </a:pPr>
            <a:r>
              <a:t>KẾT QUẢ THU NHẬN ĐƯỢC SAU 12 TUẦN</a:t>
            </a:r>
          </a:p>
          <a:p>
            <a:pPr>
              <a:lnSpc>
                <a:spcPct val="115000"/>
              </a:lnSpc>
              <a:defRPr sz="1050">
                <a:solidFill>
                  <a:srgbClr val="1E293B"/>
                </a:solidFill>
                <a:latin typeface="Arial"/>
              </a:defRPr>
            </a:pPr>
            <a:r>
              <a:t>• Hoàn thành 100% Khối lượng: Đạt toàn bộ mục tiêu đề ra trong đề cương kế hoạch 12 tuần theo quy định của Khoa CNTT — HUCE.</a:t>
            </a:r>
          </a:p>
          <a:p>
            <a:pPr>
              <a:lnSpc>
                <a:spcPct val="115000"/>
              </a:lnSpc>
              <a:defRPr sz="1050">
                <a:solidFill>
                  <a:srgbClr val="1E293B"/>
                </a:solidFill>
                <a:latin typeface="Arial"/>
              </a:defRPr>
            </a:pPr>
            <a:r>
              <a:t>• Hồ sơ Báo cáo Chuẩn mực: Hoàn thiện cuốn báo cáo dày 42 trang theo Biểu mẫu TTTN-06, tích hợp 16 sơ đồ kỹ thuật và 11 bảng biểu chuẩn hóa.</a:t>
            </a:r>
          </a:p>
          <a:p>
            <a:pPr>
              <a:lnSpc>
                <a:spcPct val="115000"/>
              </a:lnSpc>
              <a:defRPr sz="1050">
                <a:solidFill>
                  <a:srgbClr val="1E293B"/>
                </a:solidFill>
                <a:latin typeface="Arial"/>
              </a:defRPr>
            </a:pPr>
            <a:r>
              <a:t>• Kỹ năng Kỹ thuật Đột phá: Làm chủ thiết kế kiến trúc đám mây AWS Well-Architected, an ninh mạng Zero-Trust, Serverless, AI Multimodal và FinOps.</a:t>
            </a:r>
          </a:p>
          <a:p>
            <a:pPr>
              <a:lnSpc>
                <a:spcPct val="115000"/>
              </a:lnSpc>
              <a:defRPr sz="1050">
                <a:solidFill>
                  <a:srgbClr val="1E293B"/>
                </a:solidFill>
                <a:latin typeface="Arial"/>
              </a:defRPr>
            </a:pPr>
            <a:r>
              <a:t>• Tác phong Kỹ sư Toàn cầu: Rèn luyện tính chủ động, tư duy phân tích nguyên nhân gốc rễ (Root Cause Analysis) và tinh thần Ownership tuyệt đối.</a:t>
            </a:r>
          </a:p>
        </p:txBody>
      </p:sp>
      <p:sp>
        <p:nvSpPr>
          <p:cNvPr id="9" name="Rectangle 8"/>
          <p:cNvSpPr/>
          <p:nvPr/>
        </p:nvSpPr>
        <p:spPr>
          <a:xfrm>
            <a:off x="6217920" y="1234440"/>
            <a:ext cx="5212080" cy="516636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34440"/>
            <a:ext cx="5212080" cy="54864"/>
          </a:xfrm>
          <a:prstGeom prst="rect">
            <a:avLst/>
          </a:prstGeom>
          <a:solidFill>
            <a:srgbClr val="D97706"/>
          </a:solidFill>
          <a:ln>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17320"/>
            <a:ext cx="4846320" cy="4800600"/>
          </a:xfrm>
          <a:prstGeom prst="rect">
            <a:avLst/>
          </a:prstGeom>
          <a:noFill/>
        </p:spPr>
        <p:txBody>
          <a:bodyPr wrap="square">
            <a:spAutoFit/>
          </a:bodyPr>
          <a:lstStyle/>
          <a:p>
            <a:pPr>
              <a:defRPr sz="1300" b="1">
                <a:solidFill>
                  <a:srgbClr val="D97706"/>
                </a:solidFill>
                <a:latin typeface="Arial"/>
              </a:defRPr>
            </a:pPr>
            <a:r>
              <a:t>ĐỊNH HƯỚNG NGHỀ NGHIỆP CÁ NHÂN</a:t>
            </a:r>
          </a:p>
          <a:p>
            <a:pPr>
              <a:lnSpc>
                <a:spcPct val="115000"/>
              </a:lnSpc>
              <a:defRPr sz="1050">
                <a:solidFill>
                  <a:srgbClr val="1E293B"/>
                </a:solidFill>
                <a:latin typeface="Arial"/>
              </a:defRPr>
            </a:pPr>
            <a:r>
              <a:t>• Mục tiêu Chuyên môn: Phát triển theo hướng Cloud Solutions Architect &amp; AI/ML Solutions Engineer chuyên nghiệp.</a:t>
            </a:r>
          </a:p>
          <a:p>
            <a:pPr>
              <a:lnSpc>
                <a:spcPct val="115000"/>
              </a:lnSpc>
              <a:defRPr sz="1050">
                <a:solidFill>
                  <a:srgbClr val="1E293B"/>
                </a:solidFill>
                <a:latin typeface="Arial"/>
              </a:defRPr>
            </a:pPr>
            <a:r>
              <a:t>• Lộ trình Chứng chỉ Quốc tế: Hoàn thành chứng chỉ AWS Certified Solutions Architect - Associate (SAA) và hướng tới cấp độ Professional (SAP).</a:t>
            </a:r>
          </a:p>
          <a:p>
            <a:pPr>
              <a:lnSpc>
                <a:spcPct val="115000"/>
              </a:lnSpc>
              <a:defRPr sz="1050">
                <a:solidFill>
                  <a:srgbClr val="1E293B"/>
                </a:solidFill>
                <a:latin typeface="Arial"/>
              </a:defRPr>
            </a:pPr>
            <a:r>
              <a:t>• Đóng góp Cộng đồng Kỹ thuật: Xuất bản tài liệu hướng dẫn kỹ thuật mở (Open Workshop) trên nền tảng GitHub Pages chia sẻ cho sinh viên và cộng đồng.</a:t>
            </a:r>
          </a:p>
          <a:p>
            <a:pPr>
              <a:lnSpc>
                <a:spcPct val="115000"/>
              </a:lnSpc>
              <a:defRPr sz="1050">
                <a:solidFill>
                  <a:srgbClr val="1E293B"/>
                </a:solidFill>
                <a:latin typeface="Arial"/>
              </a:defRPr>
            </a:pPr>
            <a:r>
              <a:t>• Nền tảng Đồ án Tốt nghiệp: Tiếp tục phát triển hệ thống làm đề tài Đồ án Tốt nghiệp chuyên sâu trong học kỳ tới tại HUCE.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F9900"/>
          </a:solidFill>
          <a:ln>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5394960"/>
          </a:xfrm>
          <a:prstGeom prst="rect">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10728655" cy="54864"/>
          </a:xfrm>
          <a:prstGeom prst="rect">
            <a:avLst/>
          </a:prstGeom>
          <a:solidFill>
            <a:srgbClr val="FF9900"/>
          </a:solid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005840"/>
            <a:ext cx="9997135" cy="4846320"/>
          </a:xfrm>
          <a:prstGeom prst="rect">
            <a:avLst/>
          </a:prstGeom>
          <a:noFill/>
        </p:spPr>
        <p:txBody>
          <a:bodyPr wrap="square">
            <a:spAutoFit/>
          </a:bodyPr>
          <a:lstStyle/>
          <a:p>
            <a:pPr algn="ctr">
              <a:defRPr sz="2400" b="1">
                <a:solidFill>
                  <a:srgbClr val="0F172A"/>
                </a:solidFill>
                <a:latin typeface="Arial"/>
              </a:defRPr>
            </a:pPr>
            <a:r>
              <a:t>CHÂN THÀNH CẢM ƠN QUÝ THẦY CÔ VÀ HỘI ĐỒNG ĐÁNH GIÁ!</a:t>
            </a:r>
          </a:p>
          <a:p>
            <a:br/>
            <a:pPr algn="ctr">
              <a:defRPr sz="1200">
                <a:solidFill>
                  <a:srgbClr val="1E293B"/>
                </a:solidFill>
                <a:latin typeface="Arial"/>
              </a:defRPr>
            </a:pPr>
            <a:r>
              <a:t>Em xin bày tỏ lòng biết ơn sâu sắc đến ThS. Lê Văn Minh cùng các Thầy/Cô Khoa Công nghệ Thông tin — HUCE</a:t>
            </a:r>
            <a:br/>
            <a:r>
              <a:t>và các Chuyên gia hướng dẫn tại Công ty TNHH Amazon Web Services Việt Nam (AWS Vietnam)</a:t>
            </a:r>
            <a:br/>
            <a:r>
              <a:t>đã tận tình chỉ dẫn và tạo mọi điều kiện thuận lợi nhất để em hoàn thành kỳ thực tập.</a:t>
            </a:r>
          </a:p>
          <a:p>
            <a:br/>
            <a:br/>
            <a:pPr algn="ctr">
              <a:defRPr sz="1600" b="1">
                <a:solidFill>
                  <a:srgbClr val="D97706"/>
                </a:solidFill>
                <a:latin typeface="Arial"/>
              </a:defRPr>
            </a:pPr>
            <a:r>
              <a:t>PHIÊN HỎI ĐÁP &amp; CHẤT VẤN KHOA HỌC (Q&amp;A)</a:t>
            </a:r>
            <a:br/>
            <a:r>
              <a:t>Kính mời Quý Thầy/Cô trong Hội đồng đặt câu hỏi đóng góp cho đề tài!</a:t>
            </a:r>
          </a:p>
          <a:p>
            <a:br/>
            <a:br/>
            <a:pPr algn="ctr">
              <a:defRPr sz="1100">
                <a:solidFill>
                  <a:srgbClr val="64748B"/>
                </a:solidFill>
                <a:latin typeface="Arial"/>
              </a:defRPr>
            </a:pPr>
            <a:r>
              <a:t>Kho mã nguồn dự án: https://github.com/Lamhuy0489/aws</a:t>
            </a:r>
            <a:br/>
            <a:r>
              <a:t>Website Workshop Kỹ thuật: https://lamhuy0489.github.io/workshop/</a:t>
            </a:r>
            <a:br/>
            <a:r>
              <a:t>Email liên hệ: huylam0489@gmail.com   |   hunggia@amazon.com.vn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